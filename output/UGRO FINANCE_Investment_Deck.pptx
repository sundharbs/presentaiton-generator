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AUM</c:v>
                </c:pt>
              </c:strCache>
            </c:strRef>
          </c:tx>
          <c:spPr>
            <a:solidFill>
              <a:srgbClr val="1E4488"/>
            </a:solidFill>
            <a:effectLst/>
          </c:spPr>
          <c:invertIfNegative val="0"/>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FY22</c:v>
                  </c:pt>
                  <c:pt idx="1">
                    <c:v>FY23</c:v>
                  </c:pt>
                  <c:pt idx="2">
                    <c:v>FY24</c:v>
                  </c:pt>
                  <c:pt idx="3">
                    <c:v>FY25</c:v>
                  </c:pt>
                </c:lvl>
              </c:multiLvlStrCache>
            </c:multiLvlStrRef>
          </c:cat>
          <c:val>
            <c:numRef>
              <c:f>Sheet1!$B$2:$B$5</c:f>
              <c:numCache>
                <c:formatCode>General</c:formatCode>
                <c:ptCount val="4"/>
                <c:pt idx="0">
                  <c:v>3012</c:v>
                </c:pt>
                <c:pt idx="1">
                  <c:v>5630</c:v>
                </c:pt>
                <c:pt idx="2">
                  <c:v>9030</c:v>
                </c:pt>
                <c:pt idx="3">
                  <c:v>12003</c:v>
                </c:pt>
              </c:numCache>
            </c:numRef>
          </c:val>
        </c:ser>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txBody>
          <a:bodyPr/>
          <a:p/>
        </p:txBody>
      </p:sp>
      <p:sp>
        <p:nvSpPr>
          <p:cNvPr id="3" name="Shape 1"/>
          <p:cNvSpPr/>
          <p:nvPr/>
        </p:nvSpPr>
        <p:spPr>
          <a:xfrm>
            <a:off x="5029200" y="-1371600"/>
            <a:ext cx="6400800" cy="6400800"/>
          </a:xfrm>
          <a:prstGeom prst="ellipse">
            <a:avLst/>
          </a:prstGeom>
          <a:solidFill>
            <a:srgbClr val="1A3567">
              <a:alpha val="40000"/>
            </a:srgbClr>
          </a:solidFill>
          <a:ln w="12700">
            <a:solidFill>
              <a:srgbClr val="1A3567">
                <a:alpha val="40000"/>
              </a:srgbClr>
            </a:solidFill>
            <a:prstDash val="solid"/>
          </a:ln>
        </p:spPr>
        <p:txBody>
          <a:bodyPr/>
          <a:p/>
        </p:txBody>
      </p:sp>
      <p:sp>
        <p:nvSpPr>
          <p:cNvPr id="4" name="Text 2"/>
          <p:cNvSpPr/>
          <p:nvPr/>
        </p:nvSpPr>
        <p:spPr>
          <a:xfrm>
            <a:off x="320040" y="256032"/>
            <a:ext cx="8503920" cy="256032"/>
          </a:xfrm>
          <a:prstGeom prst="rect">
            <a:avLst/>
          </a:prstGeom>
          <a:noFill/>
          <a:ln/>
        </p:spPr>
        <p:txBody>
          <a:bodyPr wrap="square" rtlCol="0" anchor="ctr"/>
          <a:lstStyle/>
          <a:p>
            <a:pPr indent="0" marL="0">
              <a:buNone/>
            </a:pPr>
            <a:r>
              <a:rPr lang="en-US" sz="800" b="1" spc="300" kern="0" dirty="0">
                <a:solidFill>
                  <a:srgbClr val="C9A84C"/>
                </a:solidFill>
              </a:rPr>
              <a:t>STRICTLY CONFIDENTIAL  |  INVESTMENT BANKING ADVISORY</a:t>
            </a:r>
            <a:endParaRPr lang="en-US" sz="800" dirty="0"/>
          </a:p>
        </p:txBody>
      </p:sp>
      <p:sp>
        <p:nvSpPr>
          <p:cNvPr id="5" name="Text 3"/>
          <p:cNvSpPr/>
          <p:nvPr/>
        </p:nvSpPr>
        <p:spPr>
          <a:xfrm>
            <a:off x="320040" y="960120"/>
            <a:ext cx="6400800" cy="82296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UGRO FINANCE Ltd.</a:t>
            </a:r>
            <a:endParaRPr lang="en-US" sz="4800" dirty="0"/>
          </a:p>
        </p:txBody>
      </p:sp>
      <p:sp>
        <p:nvSpPr>
          <p:cNvPr id="6" name="Shape 4"/>
          <p:cNvSpPr/>
          <p:nvPr/>
        </p:nvSpPr>
        <p:spPr>
          <a:xfrm>
            <a:off x="320040" y="1828800"/>
            <a:ext cx="2926080" cy="45720"/>
          </a:xfrm>
          <a:prstGeom prst="rect">
            <a:avLst/>
          </a:prstGeom>
          <a:solidFill>
            <a:srgbClr val="C9A84C"/>
          </a:solidFill>
          <a:ln w="12700">
            <a:solidFill>
              <a:srgbClr val="C9A84C"/>
            </a:solidFill>
            <a:prstDash val="solid"/>
          </a:ln>
        </p:spPr>
        <p:txBody>
          <a:bodyPr/>
          <a:p/>
        </p:txBody>
      </p:sp>
      <p:sp>
        <p:nvSpPr>
          <p:cNvPr id="7" name="Text 5"/>
          <p:cNvSpPr/>
          <p:nvPr/>
        </p:nvSpPr>
        <p:spPr>
          <a:xfrm>
            <a:off x="320040" y="1965960"/>
            <a:ext cx="6400800" cy="457200"/>
          </a:xfrm>
          <a:prstGeom prst="rect">
            <a:avLst/>
          </a:prstGeom>
          <a:noFill/>
          <a:ln/>
        </p:spPr>
        <p:txBody>
          <a:bodyPr wrap="square" rtlCol="0" anchor="ctr"/>
          <a:lstStyle/>
          <a:p>
            <a:pPr indent="0" marL="0">
              <a:buNone/>
            </a:pPr>
            <a:r>
              <a:rPr lang="en-US" sz="1800" i="1" dirty="0">
                <a:solidFill>
                  <a:srgbClr val="E8C96B"/>
                </a:solidFill>
                <a:latin typeface="Calibri" pitchFamily="34" charset="0"/>
                <a:ea typeface="Calibri" pitchFamily="34" charset="-122"/>
                <a:cs typeface="Calibri" pitchFamily="34" charset="-120"/>
              </a:rPr>
              <a:t>LLM Error: 
  No API_KEY or ADC found. Please either:
    - Set the `GOOGLE_API_KEY` environment variable.
    - Manually pass the key with `genai.configure(api_key=my_api_key)`.
    - Or set up Application Default Credentials, see https://ai.google.dev/gemini-api/docs/oauth for more information.</a:t>
            </a:r>
            <a:endParaRPr lang="en-US" sz="1800" dirty="0"/>
          </a:p>
        </p:txBody>
      </p:sp>
      <p:sp>
        <p:nvSpPr>
          <p:cNvPr id="8" name="Text 6"/>
          <p:cNvSpPr/>
          <p:nvPr/>
        </p:nvSpPr>
        <p:spPr>
          <a:xfrm>
            <a:off x="320040" y="2487168"/>
            <a:ext cx="6400800" cy="365760"/>
          </a:xfrm>
          <a:prstGeom prst="rect">
            <a:avLst/>
          </a:prstGeom>
          <a:noFill/>
          <a:ln/>
        </p:spPr>
        <p:txBody>
          <a:bodyPr wrap="square" rtlCol="0" anchor="ctr"/>
          <a:lstStyle/>
          <a:p>
            <a:pPr indent="0" marL="0">
              <a:buNone/>
            </a:pPr>
            <a:r>
              <a:rPr lang="en-US" sz="1500" dirty="0">
                <a:solidFill>
                  <a:srgbClr val="8899AA"/>
                </a:solidFill>
              </a:rPr>
              <a:t>Equity Story &amp; Strategic Overview</a:t>
            </a:r>
            <a:endParaRPr lang="en-US" sz="1500" dirty="0"/>
          </a:p>
        </p:txBody>
      </p:sp>
      <p:sp>
        <p:nvSpPr>
          <p:cNvPr id="9" name="Shape 7"/>
          <p:cNvSpPr/>
          <p:nvPr/>
        </p:nvSpPr>
        <p:spPr>
          <a:xfrm>
            <a:off x="320040" y="3246120"/>
            <a:ext cx="2011680" cy="1325880"/>
          </a:xfrm>
          <a:prstGeom prst="rect">
            <a:avLst/>
          </a:prstGeom>
          <a:solidFill>
            <a:srgbClr val="1A3567"/>
          </a:solidFill>
          <a:ln w="12700">
            <a:solidFill>
              <a:srgbClr val="C9A84C"/>
            </a:solidFill>
            <a:prstDash val="solid"/>
          </a:ln>
        </p:spPr>
        <p:txBody>
          <a:bodyPr/>
          <a:p/>
        </p:txBody>
      </p:sp>
      <p:sp>
        <p:nvSpPr>
          <p:cNvPr id="10" name="Text 8"/>
          <p:cNvSpPr/>
          <p:nvPr/>
        </p:nvSpPr>
        <p:spPr>
          <a:xfrm>
            <a:off x="320040"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Not Available</a:t>
            </a:r>
            <a:endParaRPr lang="en-US" sz="2200" dirty="0"/>
          </a:p>
        </p:txBody>
      </p:sp>
      <p:sp>
        <p:nvSpPr>
          <p:cNvPr id="11" name="Text 9"/>
          <p:cNvSpPr/>
          <p:nvPr/>
        </p:nvSpPr>
        <p:spPr>
          <a:xfrm>
            <a:off x="320040" y="3931920"/>
            <a:ext cx="2011680" cy="411480"/>
          </a:xfrm>
          <a:prstGeom prst="rect">
            <a:avLst/>
          </a:prstGeom>
          <a:noFill/>
          <a:ln/>
        </p:spPr>
        <p:txBody>
          <a:bodyPr wrap="square" rtlCol="0" anchor="ctr"/>
          <a:lstStyle/>
          <a:p>
            <a:pPr algn="ctr" indent="0" marL="0">
              <a:buNone/>
            </a:pPr>
            <a:r>
              <a:rPr lang="en-US" sz="1000" dirty="0">
                <a:solidFill>
                  <a:srgbClr val="8899AA"/>
                </a:solidFill>
              </a:rPr>
              <a:t>AUM (FY25)</a:t>
            </a:r>
            <a:endParaRPr lang="en-US" sz="1000" dirty="0"/>
          </a:p>
        </p:txBody>
      </p:sp>
      <p:sp>
        <p:nvSpPr>
          <p:cNvPr id="12" name="Shape 10"/>
          <p:cNvSpPr/>
          <p:nvPr/>
        </p:nvSpPr>
        <p:spPr>
          <a:xfrm>
            <a:off x="2532888" y="3246120"/>
            <a:ext cx="2011680" cy="1325880"/>
          </a:xfrm>
          <a:prstGeom prst="rect">
            <a:avLst/>
          </a:prstGeom>
          <a:solidFill>
            <a:srgbClr val="1A3567"/>
          </a:solidFill>
          <a:ln w="12700">
            <a:solidFill>
              <a:srgbClr val="C9A84C"/>
            </a:solidFill>
            <a:prstDash val="solid"/>
          </a:ln>
        </p:spPr>
        <p:txBody>
          <a:bodyPr/>
          <a:p/>
        </p:txBody>
      </p:sp>
      <p:sp>
        <p:nvSpPr>
          <p:cNvPr id="13" name="Text 11"/>
          <p:cNvSpPr/>
          <p:nvPr/>
        </p:nvSpPr>
        <p:spPr>
          <a:xfrm>
            <a:off x="2532888"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Not Available</a:t>
            </a:r>
            <a:endParaRPr lang="en-US" sz="2200" dirty="0"/>
          </a:p>
        </p:txBody>
      </p:sp>
      <p:sp>
        <p:nvSpPr>
          <p:cNvPr id="14" name="Text 12"/>
          <p:cNvSpPr/>
          <p:nvPr/>
        </p:nvSpPr>
        <p:spPr>
          <a:xfrm>
            <a:off x="2532888" y="3931920"/>
            <a:ext cx="2011680" cy="411480"/>
          </a:xfrm>
          <a:prstGeom prst="rect">
            <a:avLst/>
          </a:prstGeom>
          <a:noFill/>
          <a:ln/>
        </p:spPr>
        <p:txBody>
          <a:bodyPr wrap="square" rtlCol="0" anchor="ctr"/>
          <a:lstStyle/>
          <a:p>
            <a:pPr algn="ctr" indent="0" marL="0">
              <a:buNone/>
            </a:pPr>
            <a:r>
              <a:rPr lang="en-US" sz="1000" dirty="0">
                <a:solidFill>
                  <a:srgbClr val="8899AA"/>
                </a:solidFill>
              </a:rPr>
              <a:t>YoY AUM Growth</a:t>
            </a:r>
            <a:endParaRPr lang="en-US" sz="1000" dirty="0"/>
          </a:p>
        </p:txBody>
      </p:sp>
      <p:sp>
        <p:nvSpPr>
          <p:cNvPr id="15" name="Shape 13"/>
          <p:cNvSpPr/>
          <p:nvPr/>
        </p:nvSpPr>
        <p:spPr>
          <a:xfrm>
            <a:off x="4745736" y="3246120"/>
            <a:ext cx="2011680" cy="1325880"/>
          </a:xfrm>
          <a:prstGeom prst="rect">
            <a:avLst/>
          </a:prstGeom>
          <a:solidFill>
            <a:srgbClr val="1A3567"/>
          </a:solidFill>
          <a:ln w="12700">
            <a:solidFill>
              <a:srgbClr val="C9A84C"/>
            </a:solidFill>
            <a:prstDash val="solid"/>
          </a:ln>
        </p:spPr>
        <p:txBody>
          <a:bodyPr/>
          <a:p/>
        </p:txBody>
      </p:sp>
      <p:sp>
        <p:nvSpPr>
          <p:cNvPr id="16" name="Text 14"/>
          <p:cNvSpPr/>
          <p:nvPr/>
        </p:nvSpPr>
        <p:spPr>
          <a:xfrm>
            <a:off x="4745736"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Not Available</a:t>
            </a:r>
            <a:endParaRPr lang="en-US" sz="2200" dirty="0"/>
          </a:p>
        </p:txBody>
      </p:sp>
      <p:sp>
        <p:nvSpPr>
          <p:cNvPr id="17" name="Text 15"/>
          <p:cNvSpPr/>
          <p:nvPr/>
        </p:nvSpPr>
        <p:spPr>
          <a:xfrm>
            <a:off x="4745736" y="3931920"/>
            <a:ext cx="2011680" cy="411480"/>
          </a:xfrm>
          <a:prstGeom prst="rect">
            <a:avLst/>
          </a:prstGeom>
          <a:noFill/>
          <a:ln/>
        </p:spPr>
        <p:txBody>
          <a:bodyPr wrap="square" rtlCol="0" anchor="ctr"/>
          <a:lstStyle/>
          <a:p>
            <a:pPr algn="ctr" indent="0" marL="0">
              <a:buNone/>
            </a:pPr>
            <a:r>
              <a:rPr lang="en-US" sz="1000" dirty="0">
                <a:solidFill>
                  <a:srgbClr val="8899AA"/>
                </a:solidFill>
              </a:rPr>
              <a:t>GNPA</a:t>
            </a:r>
            <a:endParaRPr lang="en-US" sz="1000" dirty="0"/>
          </a:p>
        </p:txBody>
      </p:sp>
      <p:sp>
        <p:nvSpPr>
          <p:cNvPr id="18" name="Shape 16"/>
          <p:cNvSpPr/>
          <p:nvPr/>
        </p:nvSpPr>
        <p:spPr>
          <a:xfrm>
            <a:off x="6958584" y="3246120"/>
            <a:ext cx="2011680" cy="1325880"/>
          </a:xfrm>
          <a:prstGeom prst="rect">
            <a:avLst/>
          </a:prstGeom>
          <a:solidFill>
            <a:srgbClr val="1A3567"/>
          </a:solidFill>
          <a:ln w="12700">
            <a:solidFill>
              <a:srgbClr val="C9A84C"/>
            </a:solidFill>
            <a:prstDash val="solid"/>
          </a:ln>
        </p:spPr>
        <p:txBody>
          <a:bodyPr/>
          <a:p/>
        </p:txBody>
      </p:sp>
      <p:sp>
        <p:nvSpPr>
          <p:cNvPr id="19" name="Text 17"/>
          <p:cNvSpPr/>
          <p:nvPr/>
        </p:nvSpPr>
        <p:spPr>
          <a:xfrm>
            <a:off x="6958584"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₹1,265 Cr</a:t>
            </a:r>
            <a:endParaRPr lang="en-US" sz="2200" dirty="0"/>
          </a:p>
        </p:txBody>
      </p:sp>
      <p:sp>
        <p:nvSpPr>
          <p:cNvPr id="20" name="Text 18"/>
          <p:cNvSpPr/>
          <p:nvPr/>
        </p:nvSpPr>
        <p:spPr>
          <a:xfrm>
            <a:off x="6958584" y="3931920"/>
            <a:ext cx="2011680" cy="411480"/>
          </a:xfrm>
          <a:prstGeom prst="rect">
            <a:avLst/>
          </a:prstGeom>
          <a:noFill/>
          <a:ln/>
        </p:spPr>
        <p:txBody>
          <a:bodyPr wrap="square" rtlCol="0" anchor="ctr"/>
          <a:lstStyle/>
          <a:p>
            <a:pPr algn="ctr" indent="0" marL="0">
              <a:buNone/>
            </a:pPr>
            <a:r>
              <a:rPr lang="en-US" sz="1000" dirty="0">
                <a:solidFill>
                  <a:srgbClr val="8899AA"/>
                </a:solidFill>
              </a:rPr>
              <a:t>Equity Raised (FY25)</a:t>
            </a:r>
            <a:endParaRPr lang="en-US" sz="1000" dirty="0"/>
          </a:p>
        </p:txBody>
      </p:sp>
      <p:sp>
        <p:nvSpPr>
          <p:cNvPr id="21" name="Text 19"/>
          <p:cNvSpPr/>
          <p:nvPr/>
        </p:nvSpPr>
        <p:spPr>
          <a:xfrm>
            <a:off x="320040" y="4800600"/>
            <a:ext cx="8503920" cy="201168"/>
          </a:xfrm>
          <a:prstGeom prst="rect">
            <a:avLst/>
          </a:prstGeom>
          <a:noFill/>
          <a:ln/>
        </p:spPr>
        <p:txBody>
          <a:bodyPr wrap="square" rtlCol="0" anchor="ctr"/>
          <a:lstStyle/>
          <a:p>
            <a:pPr algn="ctr" indent="0" marL="0">
              <a:buNone/>
            </a:pPr>
            <a:r>
              <a:rPr lang="en-US" sz="750" dirty="0">
                <a:solidFill>
                  <a:srgbClr val="8899AA"/>
                </a:solidFill>
              </a:rPr>
              <a:t>Prepared by: Investment Banking Division  |  May 2025  |  For Discussion Purposes Only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628"/>
          </a:solidFill>
          <a:ln w="12700">
            <a:solidFill>
              <a:srgbClr val="0A1628"/>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TABLE OF CONTENTS</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74320" y="914400"/>
            <a:ext cx="4206240" cy="822960"/>
          </a:xfrm>
          <a:prstGeom prst="rect">
            <a:avLst/>
          </a:prstGeom>
          <a:solidFill>
            <a:srgbClr val="F0F4F8"/>
          </a:solidFill>
          <a:ln w="12700">
            <a:solidFill>
              <a:srgbClr val="F0F4F8"/>
            </a:solidFill>
            <a:prstDash val="solid"/>
          </a:ln>
        </p:spPr>
        <p:txBody>
          <a:bodyPr/>
          <a:p/>
        </p:txBody>
      </p:sp>
      <p:sp>
        <p:nvSpPr>
          <p:cNvPr id="6" name="Shape 4"/>
          <p:cNvSpPr/>
          <p:nvPr/>
        </p:nvSpPr>
        <p:spPr>
          <a:xfrm>
            <a:off x="274320" y="914400"/>
            <a:ext cx="54864" cy="822960"/>
          </a:xfrm>
          <a:prstGeom prst="rect">
            <a:avLst/>
          </a:prstGeom>
          <a:solidFill>
            <a:srgbClr val="C9A84C"/>
          </a:solidFill>
          <a:ln w="12700">
            <a:solidFill>
              <a:srgbClr val="C9A84C"/>
            </a:solidFill>
            <a:prstDash val="solid"/>
          </a:ln>
        </p:spPr>
        <p:txBody>
          <a:bodyPr/>
          <a:p/>
        </p:txBody>
      </p:sp>
      <p:sp>
        <p:nvSpPr>
          <p:cNvPr id="7" name="Text 5"/>
          <p:cNvSpPr/>
          <p:nvPr/>
        </p:nvSpPr>
        <p:spPr>
          <a:xfrm>
            <a:off x="411480" y="960120"/>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01</a:t>
            </a:r>
            <a:endParaRPr lang="en-US" sz="2000" dirty="0"/>
          </a:p>
        </p:txBody>
      </p:sp>
      <p:sp>
        <p:nvSpPr>
          <p:cNvPr id="8" name="Text 6"/>
          <p:cNvSpPr/>
          <p:nvPr/>
        </p:nvSpPr>
        <p:spPr>
          <a:xfrm>
            <a:off x="932688" y="950976"/>
            <a:ext cx="3383280" cy="320040"/>
          </a:xfrm>
          <a:prstGeom prst="rect">
            <a:avLst/>
          </a:prstGeom>
          <a:noFill/>
          <a:ln/>
        </p:spPr>
        <p:txBody>
          <a:bodyPr wrap="square" rtlCol="0" anchor="ctr"/>
          <a:lstStyle/>
          <a:p>
            <a:pPr indent="0" marL="0">
              <a:buNone/>
            </a:pPr>
            <a:r>
              <a:rPr lang="en-US" sz="1200" b="1" dirty="0">
                <a:solidFill>
                  <a:srgbClr val="0A1628"/>
                </a:solidFill>
              </a:rPr>
              <a:t>Investment Thesis</a:t>
            </a:r>
            <a:endParaRPr lang="en-US" sz="1200" dirty="0"/>
          </a:p>
        </p:txBody>
      </p:sp>
      <p:sp>
        <p:nvSpPr>
          <p:cNvPr id="9" name="Text 7"/>
          <p:cNvSpPr/>
          <p:nvPr/>
        </p:nvSpPr>
        <p:spPr>
          <a:xfrm>
            <a:off x="932688" y="1335024"/>
            <a:ext cx="3383280" cy="274320"/>
          </a:xfrm>
          <a:prstGeom prst="rect">
            <a:avLst/>
          </a:prstGeom>
          <a:noFill/>
          <a:ln/>
        </p:spPr>
        <p:txBody>
          <a:bodyPr wrap="square" rtlCol="0" anchor="ctr"/>
          <a:lstStyle/>
          <a:p>
            <a:pPr indent="0" marL="0">
              <a:buNone/>
            </a:pPr>
            <a:r>
              <a:rPr lang="en-US" sz="900" dirty="0">
                <a:solidFill>
                  <a:srgbClr val="8899AA"/>
                </a:solidFill>
              </a:rPr>
              <a:t>Why UGRO FINANCE is a Compelling Opportunity</a:t>
            </a:r>
            <a:endParaRPr lang="en-US" sz="900" dirty="0"/>
          </a:p>
        </p:txBody>
      </p:sp>
      <p:sp>
        <p:nvSpPr>
          <p:cNvPr id="10" name="Shape 8"/>
          <p:cNvSpPr/>
          <p:nvPr/>
        </p:nvSpPr>
        <p:spPr>
          <a:xfrm>
            <a:off x="274320" y="1901952"/>
            <a:ext cx="4206240" cy="822960"/>
          </a:xfrm>
          <a:prstGeom prst="rect">
            <a:avLst/>
          </a:prstGeom>
          <a:solidFill>
            <a:srgbClr val="F0F4F8"/>
          </a:solidFill>
          <a:ln w="12700">
            <a:solidFill>
              <a:srgbClr val="F0F4F8"/>
            </a:solidFill>
            <a:prstDash val="solid"/>
          </a:ln>
        </p:spPr>
        <p:txBody>
          <a:bodyPr/>
          <a:p/>
        </p:txBody>
      </p:sp>
      <p:sp>
        <p:nvSpPr>
          <p:cNvPr id="11" name="Shape 9"/>
          <p:cNvSpPr/>
          <p:nvPr/>
        </p:nvSpPr>
        <p:spPr>
          <a:xfrm>
            <a:off x="274320" y="1901952"/>
            <a:ext cx="54864" cy="822960"/>
          </a:xfrm>
          <a:prstGeom prst="rect">
            <a:avLst/>
          </a:prstGeom>
          <a:solidFill>
            <a:srgbClr val="C9A84C"/>
          </a:solidFill>
          <a:ln w="12700">
            <a:solidFill>
              <a:srgbClr val="C9A84C"/>
            </a:solidFill>
            <a:prstDash val="solid"/>
          </a:ln>
        </p:spPr>
        <p:txBody>
          <a:bodyPr/>
          <a:p/>
        </p:txBody>
      </p:sp>
      <p:sp>
        <p:nvSpPr>
          <p:cNvPr id="12" name="Text 10"/>
          <p:cNvSpPr/>
          <p:nvPr/>
        </p:nvSpPr>
        <p:spPr>
          <a:xfrm>
            <a:off x="411480" y="1947672"/>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02</a:t>
            </a:r>
            <a:endParaRPr lang="en-US" sz="2000" dirty="0"/>
          </a:p>
        </p:txBody>
      </p:sp>
      <p:sp>
        <p:nvSpPr>
          <p:cNvPr id="13" name="Text 11"/>
          <p:cNvSpPr/>
          <p:nvPr/>
        </p:nvSpPr>
        <p:spPr>
          <a:xfrm>
            <a:off x="932688" y="1938528"/>
            <a:ext cx="3383280" cy="320040"/>
          </a:xfrm>
          <a:prstGeom prst="rect">
            <a:avLst/>
          </a:prstGeom>
          <a:noFill/>
          <a:ln/>
        </p:spPr>
        <p:txBody>
          <a:bodyPr wrap="square" rtlCol="0" anchor="ctr"/>
          <a:lstStyle/>
          <a:p>
            <a:pPr indent="0" marL="0">
              <a:buNone/>
            </a:pPr>
            <a:r>
              <a:rPr lang="en-US" sz="1200" b="1" dirty="0">
                <a:solidFill>
                  <a:srgbClr val="0A1628"/>
                </a:solidFill>
              </a:rPr>
              <a:t>Company Overview &amp; Business Model</a:t>
            </a:r>
            <a:endParaRPr lang="en-US" sz="1200" dirty="0"/>
          </a:p>
        </p:txBody>
      </p:sp>
      <p:sp>
        <p:nvSpPr>
          <p:cNvPr id="14" name="Text 12"/>
          <p:cNvSpPr/>
          <p:nvPr/>
        </p:nvSpPr>
        <p:spPr>
          <a:xfrm>
            <a:off x="932688" y="2322576"/>
            <a:ext cx="3383280" cy="274320"/>
          </a:xfrm>
          <a:prstGeom prst="rect">
            <a:avLst/>
          </a:prstGeom>
          <a:noFill/>
          <a:ln/>
        </p:spPr>
        <p:txBody>
          <a:bodyPr wrap="square" rtlCol="0" anchor="ctr"/>
          <a:lstStyle/>
          <a:p>
            <a:pPr indent="0" marL="0">
              <a:buNone/>
            </a:pPr>
            <a:r>
              <a:rPr lang="en-US" sz="900" dirty="0">
                <a:solidFill>
                  <a:srgbClr val="8899AA"/>
                </a:solidFill>
              </a:rPr>
              <a:t>DataTech-Led MSME Lending Platform</a:t>
            </a:r>
            <a:endParaRPr lang="en-US" sz="900" dirty="0"/>
          </a:p>
        </p:txBody>
      </p:sp>
      <p:sp>
        <p:nvSpPr>
          <p:cNvPr id="15" name="Shape 13"/>
          <p:cNvSpPr/>
          <p:nvPr/>
        </p:nvSpPr>
        <p:spPr>
          <a:xfrm>
            <a:off x="274320" y="2889504"/>
            <a:ext cx="4206240" cy="822960"/>
          </a:xfrm>
          <a:prstGeom prst="rect">
            <a:avLst/>
          </a:prstGeom>
          <a:solidFill>
            <a:srgbClr val="F0F4F8"/>
          </a:solidFill>
          <a:ln w="12700">
            <a:solidFill>
              <a:srgbClr val="F0F4F8"/>
            </a:solidFill>
            <a:prstDash val="solid"/>
          </a:ln>
        </p:spPr>
        <p:txBody>
          <a:bodyPr/>
          <a:p/>
        </p:txBody>
      </p:sp>
      <p:sp>
        <p:nvSpPr>
          <p:cNvPr id="16" name="Shape 14"/>
          <p:cNvSpPr/>
          <p:nvPr/>
        </p:nvSpPr>
        <p:spPr>
          <a:xfrm>
            <a:off x="274320" y="2889504"/>
            <a:ext cx="54864" cy="822960"/>
          </a:xfrm>
          <a:prstGeom prst="rect">
            <a:avLst/>
          </a:prstGeom>
          <a:solidFill>
            <a:srgbClr val="C9A84C"/>
          </a:solidFill>
          <a:ln w="12700">
            <a:solidFill>
              <a:srgbClr val="C9A84C"/>
            </a:solidFill>
            <a:prstDash val="solid"/>
          </a:ln>
        </p:spPr>
        <p:txBody>
          <a:bodyPr/>
          <a:p/>
        </p:txBody>
      </p:sp>
      <p:sp>
        <p:nvSpPr>
          <p:cNvPr id="17" name="Text 15"/>
          <p:cNvSpPr/>
          <p:nvPr/>
        </p:nvSpPr>
        <p:spPr>
          <a:xfrm>
            <a:off x="411480" y="2935224"/>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03</a:t>
            </a:r>
            <a:endParaRPr lang="en-US" sz="2000" dirty="0"/>
          </a:p>
        </p:txBody>
      </p:sp>
      <p:sp>
        <p:nvSpPr>
          <p:cNvPr id="18" name="Text 16"/>
          <p:cNvSpPr/>
          <p:nvPr/>
        </p:nvSpPr>
        <p:spPr>
          <a:xfrm>
            <a:off x="932688" y="2926080"/>
            <a:ext cx="3383280" cy="320040"/>
          </a:xfrm>
          <a:prstGeom prst="rect">
            <a:avLst/>
          </a:prstGeom>
          <a:noFill/>
          <a:ln/>
        </p:spPr>
        <p:txBody>
          <a:bodyPr wrap="square" rtlCol="0" anchor="ctr"/>
          <a:lstStyle/>
          <a:p>
            <a:pPr indent="0" marL="0">
              <a:buNone/>
            </a:pPr>
            <a:r>
              <a:rPr lang="en-US" sz="1200" b="1" dirty="0">
                <a:solidFill>
                  <a:srgbClr val="0A1628"/>
                </a:solidFill>
              </a:rPr>
              <a:t>Financial Performance</a:t>
            </a:r>
            <a:endParaRPr lang="en-US" sz="1200" dirty="0"/>
          </a:p>
        </p:txBody>
      </p:sp>
      <p:sp>
        <p:nvSpPr>
          <p:cNvPr id="19" name="Text 17"/>
          <p:cNvSpPr/>
          <p:nvPr/>
        </p:nvSpPr>
        <p:spPr>
          <a:xfrm>
            <a:off x="932688" y="3310128"/>
            <a:ext cx="3383280" cy="274320"/>
          </a:xfrm>
          <a:prstGeom prst="rect">
            <a:avLst/>
          </a:prstGeom>
          <a:noFill/>
          <a:ln/>
        </p:spPr>
        <p:txBody>
          <a:bodyPr wrap="square" rtlCol="0" anchor="ctr"/>
          <a:lstStyle/>
          <a:p>
            <a:pPr indent="0" marL="0">
              <a:buNone/>
            </a:pPr>
            <a:r>
              <a:rPr lang="en-US" sz="900" dirty="0">
                <a:solidFill>
                  <a:srgbClr val="8899AA"/>
                </a:solidFill>
              </a:rPr>
              <a:t>Strong Growth with Improving Unit Economics</a:t>
            </a:r>
            <a:endParaRPr lang="en-US" sz="900" dirty="0"/>
          </a:p>
        </p:txBody>
      </p:sp>
      <p:sp>
        <p:nvSpPr>
          <p:cNvPr id="20" name="Shape 18"/>
          <p:cNvSpPr/>
          <p:nvPr/>
        </p:nvSpPr>
        <p:spPr>
          <a:xfrm>
            <a:off x="274320" y="3877056"/>
            <a:ext cx="4206240" cy="822960"/>
          </a:xfrm>
          <a:prstGeom prst="rect">
            <a:avLst/>
          </a:prstGeom>
          <a:solidFill>
            <a:srgbClr val="F0F4F8"/>
          </a:solidFill>
          <a:ln w="12700">
            <a:solidFill>
              <a:srgbClr val="F0F4F8"/>
            </a:solidFill>
            <a:prstDash val="solid"/>
          </a:ln>
        </p:spPr>
        <p:txBody>
          <a:bodyPr/>
          <a:p/>
        </p:txBody>
      </p:sp>
      <p:sp>
        <p:nvSpPr>
          <p:cNvPr id="21" name="Shape 19"/>
          <p:cNvSpPr/>
          <p:nvPr/>
        </p:nvSpPr>
        <p:spPr>
          <a:xfrm>
            <a:off x="274320" y="3877056"/>
            <a:ext cx="54864" cy="822960"/>
          </a:xfrm>
          <a:prstGeom prst="rect">
            <a:avLst/>
          </a:prstGeom>
          <a:solidFill>
            <a:srgbClr val="C9A84C"/>
          </a:solidFill>
          <a:ln w="12700">
            <a:solidFill>
              <a:srgbClr val="C9A84C"/>
            </a:solidFill>
            <a:prstDash val="solid"/>
          </a:ln>
        </p:spPr>
        <p:txBody>
          <a:bodyPr/>
          <a:p/>
        </p:txBody>
      </p:sp>
      <p:sp>
        <p:nvSpPr>
          <p:cNvPr id="22" name="Text 20"/>
          <p:cNvSpPr/>
          <p:nvPr/>
        </p:nvSpPr>
        <p:spPr>
          <a:xfrm>
            <a:off x="411480" y="3922776"/>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04</a:t>
            </a:r>
            <a:endParaRPr lang="en-US" sz="2000" dirty="0"/>
          </a:p>
        </p:txBody>
      </p:sp>
      <p:sp>
        <p:nvSpPr>
          <p:cNvPr id="23" name="Text 21"/>
          <p:cNvSpPr/>
          <p:nvPr/>
        </p:nvSpPr>
        <p:spPr>
          <a:xfrm>
            <a:off x="932688" y="3913632"/>
            <a:ext cx="3383280" cy="320040"/>
          </a:xfrm>
          <a:prstGeom prst="rect">
            <a:avLst/>
          </a:prstGeom>
          <a:noFill/>
          <a:ln/>
        </p:spPr>
        <p:txBody>
          <a:bodyPr wrap="square" rtlCol="0" anchor="ctr"/>
          <a:lstStyle/>
          <a:p>
            <a:pPr indent="0" marL="0">
              <a:buNone/>
            </a:pPr>
            <a:r>
              <a:rPr lang="en-US" sz="1200" b="1" dirty="0">
                <a:solidFill>
                  <a:srgbClr val="0A1628"/>
                </a:solidFill>
              </a:rPr>
              <a:t>Competitive Positioning &amp; Moat</a:t>
            </a:r>
            <a:endParaRPr lang="en-US" sz="1200" dirty="0"/>
          </a:p>
        </p:txBody>
      </p:sp>
      <p:sp>
        <p:nvSpPr>
          <p:cNvPr id="24" name="Text 22"/>
          <p:cNvSpPr/>
          <p:nvPr/>
        </p:nvSpPr>
        <p:spPr>
          <a:xfrm>
            <a:off x="932688" y="4297680"/>
            <a:ext cx="3383280" cy="274320"/>
          </a:xfrm>
          <a:prstGeom prst="rect">
            <a:avLst/>
          </a:prstGeom>
          <a:noFill/>
          <a:ln/>
        </p:spPr>
        <p:txBody>
          <a:bodyPr wrap="square" rtlCol="0" anchor="ctr"/>
          <a:lstStyle/>
          <a:p>
            <a:pPr indent="0" marL="0">
              <a:buNone/>
            </a:pPr>
            <a:r>
              <a:rPr lang="en-US" sz="900" dirty="0">
                <a:solidFill>
                  <a:srgbClr val="8899AA"/>
                </a:solidFill>
              </a:rPr>
              <a:t>GRO Score™ &amp; Multi-Channel Distribution</a:t>
            </a:r>
            <a:endParaRPr lang="en-US" sz="900" dirty="0"/>
          </a:p>
        </p:txBody>
      </p:sp>
      <p:sp>
        <p:nvSpPr>
          <p:cNvPr id="25" name="Shape 23"/>
          <p:cNvSpPr/>
          <p:nvPr/>
        </p:nvSpPr>
        <p:spPr>
          <a:xfrm>
            <a:off x="4754880" y="914400"/>
            <a:ext cx="4206240" cy="822960"/>
          </a:xfrm>
          <a:prstGeom prst="rect">
            <a:avLst/>
          </a:prstGeom>
          <a:solidFill>
            <a:srgbClr val="F0F4F8"/>
          </a:solidFill>
          <a:ln w="12700">
            <a:solidFill>
              <a:srgbClr val="F0F4F8"/>
            </a:solidFill>
            <a:prstDash val="solid"/>
          </a:ln>
        </p:spPr>
        <p:txBody>
          <a:bodyPr/>
          <a:p/>
        </p:txBody>
      </p:sp>
      <p:sp>
        <p:nvSpPr>
          <p:cNvPr id="26" name="Shape 24"/>
          <p:cNvSpPr/>
          <p:nvPr/>
        </p:nvSpPr>
        <p:spPr>
          <a:xfrm>
            <a:off x="4754880" y="914400"/>
            <a:ext cx="54864" cy="822960"/>
          </a:xfrm>
          <a:prstGeom prst="rect">
            <a:avLst/>
          </a:prstGeom>
          <a:solidFill>
            <a:srgbClr val="C9A84C"/>
          </a:solidFill>
          <a:ln w="12700">
            <a:solidFill>
              <a:srgbClr val="C9A84C"/>
            </a:solidFill>
            <a:prstDash val="solid"/>
          </a:ln>
        </p:spPr>
        <p:txBody>
          <a:bodyPr/>
          <a:p/>
        </p:txBody>
      </p:sp>
      <p:sp>
        <p:nvSpPr>
          <p:cNvPr id="27" name="Text 25"/>
          <p:cNvSpPr/>
          <p:nvPr/>
        </p:nvSpPr>
        <p:spPr>
          <a:xfrm>
            <a:off x="4892040" y="960120"/>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05</a:t>
            </a:r>
            <a:endParaRPr lang="en-US" sz="2000" dirty="0"/>
          </a:p>
        </p:txBody>
      </p:sp>
      <p:sp>
        <p:nvSpPr>
          <p:cNvPr id="28" name="Text 26"/>
          <p:cNvSpPr/>
          <p:nvPr/>
        </p:nvSpPr>
        <p:spPr>
          <a:xfrm>
            <a:off x="5413248" y="950976"/>
            <a:ext cx="3383280" cy="320040"/>
          </a:xfrm>
          <a:prstGeom prst="rect">
            <a:avLst/>
          </a:prstGeom>
          <a:noFill/>
          <a:ln/>
        </p:spPr>
        <p:txBody>
          <a:bodyPr wrap="square" rtlCol="0" anchor="ctr"/>
          <a:lstStyle/>
          <a:p>
            <a:pPr indent="0" marL="0">
              <a:buNone/>
            </a:pPr>
            <a:r>
              <a:rPr lang="en-US" sz="1200" b="1" dirty="0">
                <a:solidFill>
                  <a:srgbClr val="0A1628"/>
                </a:solidFill>
              </a:rPr>
              <a:t>Market Opportunity</a:t>
            </a:r>
            <a:endParaRPr lang="en-US" sz="1200" dirty="0"/>
          </a:p>
        </p:txBody>
      </p:sp>
      <p:sp>
        <p:nvSpPr>
          <p:cNvPr id="29" name="Text 27"/>
          <p:cNvSpPr/>
          <p:nvPr/>
        </p:nvSpPr>
        <p:spPr>
          <a:xfrm>
            <a:off x="5413248" y="1335024"/>
            <a:ext cx="3383280" cy="274320"/>
          </a:xfrm>
          <a:prstGeom prst="rect">
            <a:avLst/>
          </a:prstGeom>
          <a:noFill/>
          <a:ln/>
        </p:spPr>
        <p:txBody>
          <a:bodyPr wrap="square" rtlCol="0" anchor="ctr"/>
          <a:lstStyle/>
          <a:p>
            <a:pPr indent="0" marL="0">
              <a:buNone/>
            </a:pPr>
            <a:r>
              <a:rPr lang="en-US" sz="900" dirty="0">
                <a:solidFill>
                  <a:srgbClr val="8899AA"/>
                </a:solidFill>
              </a:rPr>
              <a:t>₹103 Trillion MSME Credit Gap</a:t>
            </a:r>
            <a:endParaRPr lang="en-US" sz="900" dirty="0"/>
          </a:p>
        </p:txBody>
      </p:sp>
      <p:sp>
        <p:nvSpPr>
          <p:cNvPr id="30" name="Shape 28"/>
          <p:cNvSpPr/>
          <p:nvPr/>
        </p:nvSpPr>
        <p:spPr>
          <a:xfrm>
            <a:off x="4754880" y="1901952"/>
            <a:ext cx="4206240" cy="822960"/>
          </a:xfrm>
          <a:prstGeom prst="rect">
            <a:avLst/>
          </a:prstGeom>
          <a:solidFill>
            <a:srgbClr val="F0F4F8"/>
          </a:solidFill>
          <a:ln w="12700">
            <a:solidFill>
              <a:srgbClr val="F0F4F8"/>
            </a:solidFill>
            <a:prstDash val="solid"/>
          </a:ln>
        </p:spPr>
        <p:txBody>
          <a:bodyPr/>
          <a:p/>
        </p:txBody>
      </p:sp>
      <p:sp>
        <p:nvSpPr>
          <p:cNvPr id="31" name="Shape 29"/>
          <p:cNvSpPr/>
          <p:nvPr/>
        </p:nvSpPr>
        <p:spPr>
          <a:xfrm>
            <a:off x="4754880" y="1901952"/>
            <a:ext cx="54864" cy="822960"/>
          </a:xfrm>
          <a:prstGeom prst="rect">
            <a:avLst/>
          </a:prstGeom>
          <a:solidFill>
            <a:srgbClr val="C9A84C"/>
          </a:solidFill>
          <a:ln w="12700">
            <a:solidFill>
              <a:srgbClr val="C9A84C"/>
            </a:solidFill>
            <a:prstDash val="solid"/>
          </a:ln>
        </p:spPr>
        <p:txBody>
          <a:bodyPr/>
          <a:p/>
        </p:txBody>
      </p:sp>
      <p:sp>
        <p:nvSpPr>
          <p:cNvPr id="32" name="Text 30"/>
          <p:cNvSpPr/>
          <p:nvPr/>
        </p:nvSpPr>
        <p:spPr>
          <a:xfrm>
            <a:off x="4892040" y="1947672"/>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06</a:t>
            </a:r>
            <a:endParaRPr lang="en-US" sz="2000" dirty="0"/>
          </a:p>
        </p:txBody>
      </p:sp>
      <p:sp>
        <p:nvSpPr>
          <p:cNvPr id="33" name="Text 31"/>
          <p:cNvSpPr/>
          <p:nvPr/>
        </p:nvSpPr>
        <p:spPr>
          <a:xfrm>
            <a:off x="5413248" y="1938528"/>
            <a:ext cx="3383280" cy="320040"/>
          </a:xfrm>
          <a:prstGeom prst="rect">
            <a:avLst/>
          </a:prstGeom>
          <a:noFill/>
          <a:ln/>
        </p:spPr>
        <p:txBody>
          <a:bodyPr wrap="square" rtlCol="0" anchor="ctr"/>
          <a:lstStyle/>
          <a:p>
            <a:pPr indent="0" marL="0">
              <a:buNone/>
            </a:pPr>
            <a:r>
              <a:rPr lang="en-US" sz="1200" b="1" dirty="0">
                <a:solidFill>
                  <a:srgbClr val="0A1628"/>
                </a:solidFill>
              </a:rPr>
              <a:t>Risk Factors</a:t>
            </a:r>
            <a:endParaRPr lang="en-US" sz="1200" dirty="0"/>
          </a:p>
        </p:txBody>
      </p:sp>
      <p:sp>
        <p:nvSpPr>
          <p:cNvPr id="34" name="Text 32"/>
          <p:cNvSpPr/>
          <p:nvPr/>
        </p:nvSpPr>
        <p:spPr>
          <a:xfrm>
            <a:off x="5413248" y="2322576"/>
            <a:ext cx="3383280" cy="274320"/>
          </a:xfrm>
          <a:prstGeom prst="rect">
            <a:avLst/>
          </a:prstGeom>
          <a:noFill/>
          <a:ln/>
        </p:spPr>
        <p:txBody>
          <a:bodyPr wrap="square" rtlCol="0" anchor="ctr"/>
          <a:lstStyle/>
          <a:p>
            <a:pPr indent="0" marL="0">
              <a:buNone/>
            </a:pPr>
            <a:r>
              <a:rPr lang="en-US" sz="900" dirty="0">
                <a:solidFill>
                  <a:srgbClr val="8899AA"/>
                </a:solidFill>
              </a:rPr>
              <a:t>Key Risks and Mitigants</a:t>
            </a:r>
            <a:endParaRPr lang="en-US" sz="900" dirty="0"/>
          </a:p>
        </p:txBody>
      </p:sp>
      <p:sp>
        <p:nvSpPr>
          <p:cNvPr id="35" name="Shape 33"/>
          <p:cNvSpPr/>
          <p:nvPr/>
        </p:nvSpPr>
        <p:spPr>
          <a:xfrm>
            <a:off x="4754880" y="2889504"/>
            <a:ext cx="4206240" cy="822960"/>
          </a:xfrm>
          <a:prstGeom prst="rect">
            <a:avLst/>
          </a:prstGeom>
          <a:solidFill>
            <a:srgbClr val="F0F4F8"/>
          </a:solidFill>
          <a:ln w="12700">
            <a:solidFill>
              <a:srgbClr val="F0F4F8"/>
            </a:solidFill>
            <a:prstDash val="solid"/>
          </a:ln>
        </p:spPr>
        <p:txBody>
          <a:bodyPr/>
          <a:p/>
        </p:txBody>
      </p:sp>
      <p:sp>
        <p:nvSpPr>
          <p:cNvPr id="36" name="Shape 34"/>
          <p:cNvSpPr/>
          <p:nvPr/>
        </p:nvSpPr>
        <p:spPr>
          <a:xfrm>
            <a:off x="4754880" y="2889504"/>
            <a:ext cx="54864" cy="822960"/>
          </a:xfrm>
          <a:prstGeom prst="rect">
            <a:avLst/>
          </a:prstGeom>
          <a:solidFill>
            <a:srgbClr val="C9A84C"/>
          </a:solidFill>
          <a:ln w="12700">
            <a:solidFill>
              <a:srgbClr val="C9A84C"/>
            </a:solidFill>
            <a:prstDash val="solid"/>
          </a:ln>
        </p:spPr>
        <p:txBody>
          <a:bodyPr/>
          <a:p/>
        </p:txBody>
      </p:sp>
      <p:sp>
        <p:nvSpPr>
          <p:cNvPr id="37" name="Text 35"/>
          <p:cNvSpPr/>
          <p:nvPr/>
        </p:nvSpPr>
        <p:spPr>
          <a:xfrm>
            <a:off x="4892040" y="2935224"/>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07</a:t>
            </a:r>
            <a:endParaRPr lang="en-US" sz="2000" dirty="0"/>
          </a:p>
        </p:txBody>
      </p:sp>
      <p:sp>
        <p:nvSpPr>
          <p:cNvPr id="38" name="Text 36"/>
          <p:cNvSpPr/>
          <p:nvPr/>
        </p:nvSpPr>
        <p:spPr>
          <a:xfrm>
            <a:off x="5413248" y="2926080"/>
            <a:ext cx="3383280" cy="320040"/>
          </a:xfrm>
          <a:prstGeom prst="rect">
            <a:avLst/>
          </a:prstGeom>
          <a:noFill/>
          <a:ln/>
        </p:spPr>
        <p:txBody>
          <a:bodyPr wrap="square" rtlCol="0" anchor="ctr"/>
          <a:lstStyle/>
          <a:p>
            <a:pPr indent="0" marL="0">
              <a:buNone/>
            </a:pPr>
            <a:r>
              <a:rPr lang="en-US" sz="1200" b="1" dirty="0">
                <a:solidFill>
                  <a:srgbClr val="0A1628"/>
                </a:solidFill>
              </a:rPr>
              <a:t>FY26 Strategy &amp; Outlook</a:t>
            </a:r>
            <a:endParaRPr lang="en-US" sz="1200" dirty="0"/>
          </a:p>
        </p:txBody>
      </p:sp>
      <p:sp>
        <p:nvSpPr>
          <p:cNvPr id="39" name="Text 37"/>
          <p:cNvSpPr/>
          <p:nvPr/>
        </p:nvSpPr>
        <p:spPr>
          <a:xfrm>
            <a:off x="5413248" y="3310128"/>
            <a:ext cx="3383280" cy="274320"/>
          </a:xfrm>
          <a:prstGeom prst="rect">
            <a:avLst/>
          </a:prstGeom>
          <a:noFill/>
          <a:ln/>
        </p:spPr>
        <p:txBody>
          <a:bodyPr wrap="square" rtlCol="0" anchor="ctr"/>
          <a:lstStyle/>
          <a:p>
            <a:pPr indent="0" marL="0">
              <a:buNone/>
            </a:pPr>
            <a:r>
              <a:rPr lang="en-US" sz="900" dirty="0">
                <a:solidFill>
                  <a:srgbClr val="8899AA"/>
                </a:solidFill>
              </a:rPr>
              <a:t>Roadmap to ₹16,000–17,000 Cr AUM</a:t>
            </a:r>
            <a:endParaRPr lang="en-US" sz="900" dirty="0"/>
          </a:p>
        </p:txBody>
      </p:sp>
      <p:sp>
        <p:nvSpPr>
          <p:cNvPr id="40" name="Shape 38"/>
          <p:cNvSpPr/>
          <p:nvPr/>
        </p:nvSpPr>
        <p:spPr>
          <a:xfrm>
            <a:off x="4754880" y="3877056"/>
            <a:ext cx="4206240" cy="822960"/>
          </a:xfrm>
          <a:prstGeom prst="rect">
            <a:avLst/>
          </a:prstGeom>
          <a:solidFill>
            <a:srgbClr val="F0F4F8"/>
          </a:solidFill>
          <a:ln w="12700">
            <a:solidFill>
              <a:srgbClr val="F0F4F8"/>
            </a:solidFill>
            <a:prstDash val="solid"/>
          </a:ln>
        </p:spPr>
        <p:txBody>
          <a:bodyPr/>
          <a:p/>
        </p:txBody>
      </p:sp>
      <p:sp>
        <p:nvSpPr>
          <p:cNvPr id="41" name="Shape 39"/>
          <p:cNvSpPr/>
          <p:nvPr/>
        </p:nvSpPr>
        <p:spPr>
          <a:xfrm>
            <a:off x="4754880" y="3877056"/>
            <a:ext cx="54864" cy="822960"/>
          </a:xfrm>
          <a:prstGeom prst="rect">
            <a:avLst/>
          </a:prstGeom>
          <a:solidFill>
            <a:srgbClr val="C9A84C"/>
          </a:solidFill>
          <a:ln w="12700">
            <a:solidFill>
              <a:srgbClr val="C9A84C"/>
            </a:solidFill>
            <a:prstDash val="solid"/>
          </a:ln>
        </p:spPr>
        <p:txBody>
          <a:bodyPr/>
          <a:p/>
        </p:txBody>
      </p:sp>
      <p:sp>
        <p:nvSpPr>
          <p:cNvPr id="42" name="Text 40"/>
          <p:cNvSpPr/>
          <p:nvPr/>
        </p:nvSpPr>
        <p:spPr>
          <a:xfrm>
            <a:off x="4892040" y="3922776"/>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08</a:t>
            </a:r>
            <a:endParaRPr lang="en-US" sz="2000" dirty="0"/>
          </a:p>
        </p:txBody>
      </p:sp>
      <p:sp>
        <p:nvSpPr>
          <p:cNvPr id="43" name="Text 41"/>
          <p:cNvSpPr/>
          <p:nvPr/>
        </p:nvSpPr>
        <p:spPr>
          <a:xfrm>
            <a:off x="5413248" y="3913632"/>
            <a:ext cx="3383280" cy="320040"/>
          </a:xfrm>
          <a:prstGeom prst="rect">
            <a:avLst/>
          </a:prstGeom>
          <a:noFill/>
          <a:ln/>
        </p:spPr>
        <p:txBody>
          <a:bodyPr wrap="square" rtlCol="0" anchor="ctr"/>
          <a:lstStyle/>
          <a:p>
            <a:pPr indent="0" marL="0">
              <a:buNone/>
            </a:pPr>
            <a:r>
              <a:rPr lang="en-US" sz="1200" b="1" dirty="0">
                <a:solidFill>
                  <a:srgbClr val="0A1628"/>
                </a:solidFill>
              </a:rPr>
              <a:t>Valuation Considerations</a:t>
            </a:r>
            <a:endParaRPr lang="en-US" sz="1200" dirty="0"/>
          </a:p>
        </p:txBody>
      </p:sp>
      <p:sp>
        <p:nvSpPr>
          <p:cNvPr id="44" name="Text 42"/>
          <p:cNvSpPr/>
          <p:nvPr/>
        </p:nvSpPr>
        <p:spPr>
          <a:xfrm>
            <a:off x="5413248" y="4297680"/>
            <a:ext cx="3383280" cy="274320"/>
          </a:xfrm>
          <a:prstGeom prst="rect">
            <a:avLst/>
          </a:prstGeom>
          <a:noFill/>
          <a:ln/>
        </p:spPr>
        <p:txBody>
          <a:bodyPr wrap="square" rtlCol="0" anchor="ctr"/>
          <a:lstStyle/>
          <a:p>
            <a:pPr indent="0" marL="0">
              <a:buNone/>
            </a:pPr>
            <a:r>
              <a:rPr lang="en-US" sz="900" dirty="0">
                <a:solidFill>
                  <a:srgbClr val="8899AA"/>
                </a:solidFill>
              </a:rPr>
              <a:t>Peer Benchmarking &amp; Investment Returns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01  |  INVESTMENT THESIS</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Text 3"/>
          <p:cNvSpPr/>
          <p:nvPr/>
        </p:nvSpPr>
        <p:spPr>
          <a:xfrm>
            <a:off x="365760" y="777240"/>
            <a:ext cx="8412480" cy="347472"/>
          </a:xfrm>
          <a:prstGeom prst="rect">
            <a:avLst/>
          </a:prstGeom>
          <a:noFill/>
          <a:ln/>
        </p:spPr>
        <p:txBody>
          <a:bodyPr wrap="square" rtlCol="0" anchor="ctr"/>
          <a:lstStyle/>
          <a:p>
            <a:pPr indent="0" marL="0">
              <a:buNone/>
            </a:pPr>
            <a:r>
              <a:rPr lang="en-US" sz="1300" b="1" i="1" dirty="0">
                <a:solidFill>
                  <a:srgbClr val="1A3567"/>
                </a:solidFill>
              </a:rPr>
              <a:t>Six Reasons to Own UGRO FINANCE</a:t>
            </a:r>
            <a:endParaRPr lang="en-US" sz="1300" dirty="0"/>
          </a:p>
        </p:txBody>
      </p:sp>
      <p:sp>
        <p:nvSpPr>
          <p:cNvPr id="6" name="Shape 4"/>
          <p:cNvSpPr/>
          <p:nvPr/>
        </p:nvSpPr>
        <p:spPr>
          <a:xfrm>
            <a:off x="274320" y="126187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txBody>
          <a:bodyPr/>
          <a:p/>
        </p:txBody>
      </p:sp>
      <p:pic>
        <p:nvPicPr>
          <p:cNvPr id="7" name="Image 0" descr="preencoded.png">    </p:cNvPr>
          <p:cNvPicPr>
            <a:picLocks noChangeAspect="1"/>
          </p:cNvPicPr>
          <p:nvPr/>
        </p:nvPicPr>
        <p:blipFill>
          <a:blip r:embed="rId1"/>
          <a:stretch>
            <a:fillRect/>
          </a:stretch>
        </p:blipFill>
        <p:spPr>
          <a:xfrm>
            <a:off x="438912" y="1371600"/>
            <a:ext cx="347472" cy="347472"/>
          </a:xfrm>
          <a:prstGeom prst="rect">
            <a:avLst/>
          </a:prstGeom>
        </p:spPr>
      </p:pic>
      <p:sp>
        <p:nvSpPr>
          <p:cNvPr id="8" name="Text 5"/>
          <p:cNvSpPr/>
          <p:nvPr/>
        </p:nvSpPr>
        <p:spPr>
          <a:xfrm>
            <a:off x="841248" y="1353312"/>
            <a:ext cx="2011680" cy="347472"/>
          </a:xfrm>
          <a:prstGeom prst="rect">
            <a:avLst/>
          </a:prstGeom>
          <a:noFill/>
          <a:ln/>
        </p:spPr>
        <p:txBody>
          <a:bodyPr wrap="square" rtlCol="0" anchor="ctr"/>
          <a:lstStyle/>
          <a:p>
            <a:pPr indent="0" marL="0">
              <a:buNone/>
            </a:pPr>
            <a:r>
              <a:rPr lang="en-US" sz="1100" b="1" dirty="0">
                <a:solidFill>
                  <a:srgbClr val="0A1628"/>
                </a:solidFill>
              </a:rPr>
              <a:t>Structural Tailwind</a:t>
            </a:r>
            <a:endParaRPr lang="en-US" sz="1100" dirty="0"/>
          </a:p>
        </p:txBody>
      </p:sp>
      <p:sp>
        <p:nvSpPr>
          <p:cNvPr id="9" name="Text 6"/>
          <p:cNvSpPr/>
          <p:nvPr/>
        </p:nvSpPr>
        <p:spPr>
          <a:xfrm>
            <a:off x="402336" y="1773936"/>
            <a:ext cx="2487168" cy="987552"/>
          </a:xfrm>
          <a:prstGeom prst="rect">
            <a:avLst/>
          </a:prstGeom>
          <a:noFill/>
          <a:ln/>
        </p:spPr>
        <p:txBody>
          <a:bodyPr wrap="square" rtlCol="0" anchor="ctr"/>
          <a:lstStyle/>
          <a:p>
            <a:pPr indent="0" marL="0">
              <a:buNone/>
            </a:pPr>
            <a:r>
              <a:rPr lang="en-US" sz="950" dirty="0">
                <a:solidFill>
                  <a:srgbClr val="1A3567"/>
                </a:solidFill>
              </a:rPr>
              <a:t>₹103 trillion MSME credit gap; only 25M of 63M MSMEs access formal credit. India's largest under-penetrated lending opportunity.</a:t>
            </a:r>
            <a:endParaRPr lang="en-US" sz="950" dirty="0"/>
          </a:p>
        </p:txBody>
      </p:sp>
      <p:sp>
        <p:nvSpPr>
          <p:cNvPr id="10" name="Shape 7"/>
          <p:cNvSpPr/>
          <p:nvPr/>
        </p:nvSpPr>
        <p:spPr>
          <a:xfrm>
            <a:off x="3200400" y="126187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3364992" y="1371600"/>
            <a:ext cx="347472" cy="347472"/>
          </a:xfrm>
          <a:prstGeom prst="rect">
            <a:avLst/>
          </a:prstGeom>
        </p:spPr>
      </p:pic>
      <p:sp>
        <p:nvSpPr>
          <p:cNvPr id="12" name="Text 8"/>
          <p:cNvSpPr/>
          <p:nvPr/>
        </p:nvSpPr>
        <p:spPr>
          <a:xfrm>
            <a:off x="3767328" y="1353312"/>
            <a:ext cx="2011680" cy="347472"/>
          </a:xfrm>
          <a:prstGeom prst="rect">
            <a:avLst/>
          </a:prstGeom>
          <a:noFill/>
          <a:ln/>
        </p:spPr>
        <p:txBody>
          <a:bodyPr wrap="square" rtlCol="0" anchor="ctr"/>
          <a:lstStyle/>
          <a:p>
            <a:pPr indent="0" marL="0">
              <a:buNone/>
            </a:pPr>
            <a:r>
              <a:rPr lang="en-US" sz="1100" b="1" dirty="0">
                <a:solidFill>
                  <a:srgbClr val="0A1628"/>
                </a:solidFill>
              </a:rPr>
              <a:t>Proprietary Tech Moat</a:t>
            </a:r>
            <a:endParaRPr lang="en-US" sz="1100" dirty="0"/>
          </a:p>
        </p:txBody>
      </p:sp>
      <p:sp>
        <p:nvSpPr>
          <p:cNvPr id="13" name="Text 9"/>
          <p:cNvSpPr/>
          <p:nvPr/>
        </p:nvSpPr>
        <p:spPr>
          <a:xfrm>
            <a:off x="3328416" y="1773936"/>
            <a:ext cx="2487168" cy="987552"/>
          </a:xfrm>
          <a:prstGeom prst="rect">
            <a:avLst/>
          </a:prstGeom>
          <a:noFill/>
          <a:ln/>
        </p:spPr>
        <p:txBody>
          <a:bodyPr wrap="square" rtlCol="0" anchor="ctr"/>
          <a:lstStyle/>
          <a:p>
            <a:pPr indent="0" marL="0">
              <a:buNone/>
            </a:pPr>
            <a:r>
              <a:rPr lang="en-US" sz="950" dirty="0">
                <a:solidFill>
                  <a:srgbClr val="1A3567"/>
                </a:solidFill>
              </a:rPr>
              <a:t>GRO Score™ — patented ML-driven credit engine ingesting 10,000+ data points. 1.7 lakh+ loans scored. Impossible to replicate overnight.</a:t>
            </a:r>
            <a:endParaRPr lang="en-US" sz="950" dirty="0"/>
          </a:p>
        </p:txBody>
      </p:sp>
      <p:sp>
        <p:nvSpPr>
          <p:cNvPr id="14" name="Shape 10"/>
          <p:cNvSpPr/>
          <p:nvPr/>
        </p:nvSpPr>
        <p:spPr>
          <a:xfrm>
            <a:off x="6126480" y="126187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txBody>
          <a:bodyPr/>
          <a:p/>
        </p:txBody>
      </p:sp>
      <p:pic>
        <p:nvPicPr>
          <p:cNvPr id="15" name="Image 2" descr="preencoded.png">    </p:cNvPr>
          <p:cNvPicPr>
            <a:picLocks noChangeAspect="1"/>
          </p:cNvPicPr>
          <p:nvPr/>
        </p:nvPicPr>
        <p:blipFill>
          <a:blip r:embed="rId3"/>
          <a:stretch>
            <a:fillRect/>
          </a:stretch>
        </p:blipFill>
        <p:spPr>
          <a:xfrm>
            <a:off x="6291072" y="1371600"/>
            <a:ext cx="347472" cy="347472"/>
          </a:xfrm>
          <a:prstGeom prst="rect">
            <a:avLst/>
          </a:prstGeom>
        </p:spPr>
      </p:pic>
      <p:sp>
        <p:nvSpPr>
          <p:cNvPr id="16" name="Text 11"/>
          <p:cNvSpPr/>
          <p:nvPr/>
        </p:nvSpPr>
        <p:spPr>
          <a:xfrm>
            <a:off x="6693408" y="1353312"/>
            <a:ext cx="2011680" cy="347472"/>
          </a:xfrm>
          <a:prstGeom prst="rect">
            <a:avLst/>
          </a:prstGeom>
          <a:noFill/>
          <a:ln/>
        </p:spPr>
        <p:txBody>
          <a:bodyPr wrap="square" rtlCol="0" anchor="ctr"/>
          <a:lstStyle/>
          <a:p>
            <a:pPr indent="0" marL="0">
              <a:buNone/>
            </a:pPr>
            <a:r>
              <a:rPr lang="en-US" sz="1100" b="1" dirty="0">
                <a:solidFill>
                  <a:srgbClr val="0A1628"/>
                </a:solidFill>
              </a:rPr>
              <a:t>Accelerating Growth</a:t>
            </a:r>
            <a:endParaRPr lang="en-US" sz="1100" dirty="0"/>
          </a:p>
        </p:txBody>
      </p:sp>
      <p:sp>
        <p:nvSpPr>
          <p:cNvPr id="17" name="Text 12"/>
          <p:cNvSpPr/>
          <p:nvPr/>
        </p:nvSpPr>
        <p:spPr>
          <a:xfrm>
            <a:off x="6254496" y="1773936"/>
            <a:ext cx="2487168" cy="987552"/>
          </a:xfrm>
          <a:prstGeom prst="rect">
            <a:avLst/>
          </a:prstGeom>
          <a:noFill/>
          <a:ln/>
        </p:spPr>
        <p:txBody>
          <a:bodyPr wrap="square" rtlCol="0" anchor="ctr"/>
          <a:lstStyle/>
          <a:p>
            <a:pPr indent="0" marL="0">
              <a:buNone/>
            </a:pPr>
            <a:r>
              <a:rPr lang="en-US" sz="950" dirty="0">
                <a:solidFill>
                  <a:srgbClr val="1A3567"/>
                </a:solidFill>
              </a:rPr>
              <a:t>Not Available AUM CAGR to Not Available in FY25. Highest-ever quarterly disbursements of ₹2,436 Cr in Q4 FY25 (+57% YoY). Runway to ₹16,000–17,000 Cr by FY26.</a:t>
            </a:r>
            <a:endParaRPr lang="en-US" sz="950" dirty="0"/>
          </a:p>
        </p:txBody>
      </p:sp>
      <p:sp>
        <p:nvSpPr>
          <p:cNvPr id="18" name="Shape 13"/>
          <p:cNvSpPr/>
          <p:nvPr/>
        </p:nvSpPr>
        <p:spPr>
          <a:xfrm>
            <a:off x="274320" y="304495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txBody>
          <a:bodyPr/>
          <a:p/>
        </p:txBody>
      </p:sp>
      <p:pic>
        <p:nvPicPr>
          <p:cNvPr id="19" name="Image 3" descr="preencoded.png">    </p:cNvPr>
          <p:cNvPicPr>
            <a:picLocks noChangeAspect="1"/>
          </p:cNvPicPr>
          <p:nvPr/>
        </p:nvPicPr>
        <p:blipFill>
          <a:blip r:embed="rId4"/>
          <a:stretch>
            <a:fillRect/>
          </a:stretch>
        </p:blipFill>
        <p:spPr>
          <a:xfrm>
            <a:off x="438912" y="3154680"/>
            <a:ext cx="347472" cy="347472"/>
          </a:xfrm>
          <a:prstGeom prst="rect">
            <a:avLst/>
          </a:prstGeom>
        </p:spPr>
      </p:pic>
      <p:sp>
        <p:nvSpPr>
          <p:cNvPr id="20" name="Text 14"/>
          <p:cNvSpPr/>
          <p:nvPr/>
        </p:nvSpPr>
        <p:spPr>
          <a:xfrm>
            <a:off x="841248" y="3136392"/>
            <a:ext cx="2011680" cy="347472"/>
          </a:xfrm>
          <a:prstGeom prst="rect">
            <a:avLst/>
          </a:prstGeom>
          <a:noFill/>
          <a:ln/>
        </p:spPr>
        <p:txBody>
          <a:bodyPr wrap="square" rtlCol="0" anchor="ctr"/>
          <a:lstStyle/>
          <a:p>
            <a:pPr indent="0" marL="0">
              <a:buNone/>
            </a:pPr>
            <a:r>
              <a:rPr lang="en-US" sz="1100" b="1" dirty="0">
                <a:solidFill>
                  <a:srgbClr val="0A1628"/>
                </a:solidFill>
              </a:rPr>
              <a:t>Asset Quality Discipline</a:t>
            </a:r>
            <a:endParaRPr lang="en-US" sz="1100" dirty="0"/>
          </a:p>
        </p:txBody>
      </p:sp>
      <p:sp>
        <p:nvSpPr>
          <p:cNvPr id="21" name="Text 15"/>
          <p:cNvSpPr/>
          <p:nvPr/>
        </p:nvSpPr>
        <p:spPr>
          <a:xfrm>
            <a:off x="402336" y="3557016"/>
            <a:ext cx="2487168" cy="987552"/>
          </a:xfrm>
          <a:prstGeom prst="rect">
            <a:avLst/>
          </a:prstGeom>
          <a:noFill/>
          <a:ln/>
        </p:spPr>
        <p:txBody>
          <a:bodyPr wrap="square" rtlCol="0" anchor="ctr"/>
          <a:lstStyle/>
          <a:p>
            <a:pPr indent="0" marL="0">
              <a:buNone/>
            </a:pPr>
            <a:r>
              <a:rPr lang="en-US" sz="950" dirty="0">
                <a:solidFill>
                  <a:srgbClr val="1A3567"/>
                </a:solidFill>
              </a:rPr>
              <a:t>GNPA of Not Available and NNPA of 1.6% despite rapid scale-up. Secured portfolio with 3.7–4% credit costs, well within target range.</a:t>
            </a:r>
            <a:endParaRPr lang="en-US" sz="950" dirty="0"/>
          </a:p>
        </p:txBody>
      </p:sp>
      <p:sp>
        <p:nvSpPr>
          <p:cNvPr id="22" name="Shape 16"/>
          <p:cNvSpPr/>
          <p:nvPr/>
        </p:nvSpPr>
        <p:spPr>
          <a:xfrm>
            <a:off x="3200400" y="304495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txBody>
          <a:bodyPr/>
          <a:p/>
        </p:txBody>
      </p:sp>
      <p:pic>
        <p:nvPicPr>
          <p:cNvPr id="23" name="Image 4" descr="preencoded.png">    </p:cNvPr>
          <p:cNvPicPr>
            <a:picLocks noChangeAspect="1"/>
          </p:cNvPicPr>
          <p:nvPr/>
        </p:nvPicPr>
        <p:blipFill>
          <a:blip r:embed="rId5"/>
          <a:stretch>
            <a:fillRect/>
          </a:stretch>
        </p:blipFill>
        <p:spPr>
          <a:xfrm>
            <a:off x="3364992" y="3154680"/>
            <a:ext cx="347472" cy="347472"/>
          </a:xfrm>
          <a:prstGeom prst="rect">
            <a:avLst/>
          </a:prstGeom>
        </p:spPr>
      </p:pic>
      <p:sp>
        <p:nvSpPr>
          <p:cNvPr id="24" name="Text 17"/>
          <p:cNvSpPr/>
          <p:nvPr/>
        </p:nvSpPr>
        <p:spPr>
          <a:xfrm>
            <a:off x="3767328" y="3136392"/>
            <a:ext cx="2011680" cy="347472"/>
          </a:xfrm>
          <a:prstGeom prst="rect">
            <a:avLst/>
          </a:prstGeom>
          <a:noFill/>
          <a:ln/>
        </p:spPr>
        <p:txBody>
          <a:bodyPr wrap="square" rtlCol="0" anchor="ctr"/>
          <a:lstStyle/>
          <a:p>
            <a:pPr indent="0" marL="0">
              <a:buNone/>
            </a:pPr>
            <a:r>
              <a:rPr lang="en-US" sz="1100" b="1" dirty="0">
                <a:solidFill>
                  <a:srgbClr val="0A1628"/>
                </a:solidFill>
              </a:rPr>
              <a:t>Capital Strength</a:t>
            </a:r>
            <a:endParaRPr lang="en-US" sz="1100" dirty="0"/>
          </a:p>
        </p:txBody>
      </p:sp>
      <p:sp>
        <p:nvSpPr>
          <p:cNvPr id="25" name="Text 18"/>
          <p:cNvSpPr/>
          <p:nvPr/>
        </p:nvSpPr>
        <p:spPr>
          <a:xfrm>
            <a:off x="3328416" y="3557016"/>
            <a:ext cx="2487168" cy="987552"/>
          </a:xfrm>
          <a:prstGeom prst="rect">
            <a:avLst/>
          </a:prstGeom>
          <a:noFill/>
          <a:ln/>
        </p:spPr>
        <p:txBody>
          <a:bodyPr wrap="square" rtlCol="0" anchor="ctr"/>
          <a:lstStyle/>
          <a:p>
            <a:pPr indent="0" marL="0">
              <a:buNone/>
            </a:pPr>
            <a:r>
              <a:rPr lang="en-US" sz="950" dirty="0">
                <a:solidFill>
                  <a:srgbClr val="1A3567"/>
                </a:solidFill>
              </a:rPr>
              <a:t>₹1,265 Cr equity raise in FY25. CRAR of 20.8%. Net worth ~₹2,000 Cr. IND A+ rating on ₹3,700 Cr+ debt facilities. 17 co-lending bank partners.</a:t>
            </a:r>
            <a:endParaRPr lang="en-US" sz="950" dirty="0"/>
          </a:p>
        </p:txBody>
      </p:sp>
      <p:sp>
        <p:nvSpPr>
          <p:cNvPr id="26" name="Shape 19"/>
          <p:cNvSpPr/>
          <p:nvPr/>
        </p:nvSpPr>
        <p:spPr>
          <a:xfrm>
            <a:off x="6126480" y="304495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txBody>
          <a:bodyPr/>
          <a:p/>
        </p:txBody>
      </p:sp>
      <p:pic>
        <p:nvPicPr>
          <p:cNvPr id="27" name="Image 5" descr="preencoded.png">    </p:cNvPr>
          <p:cNvPicPr>
            <a:picLocks noChangeAspect="1"/>
          </p:cNvPicPr>
          <p:nvPr/>
        </p:nvPicPr>
        <p:blipFill>
          <a:blip r:embed="rId6"/>
          <a:stretch>
            <a:fillRect/>
          </a:stretch>
        </p:blipFill>
        <p:spPr>
          <a:xfrm>
            <a:off x="6291072" y="3154680"/>
            <a:ext cx="347472" cy="347472"/>
          </a:xfrm>
          <a:prstGeom prst="rect">
            <a:avLst/>
          </a:prstGeom>
        </p:spPr>
      </p:pic>
      <p:sp>
        <p:nvSpPr>
          <p:cNvPr id="28" name="Text 20"/>
          <p:cNvSpPr/>
          <p:nvPr/>
        </p:nvSpPr>
        <p:spPr>
          <a:xfrm>
            <a:off x="6693408" y="3136392"/>
            <a:ext cx="2011680" cy="347472"/>
          </a:xfrm>
          <a:prstGeom prst="rect">
            <a:avLst/>
          </a:prstGeom>
          <a:noFill/>
          <a:ln/>
        </p:spPr>
        <p:txBody>
          <a:bodyPr wrap="square" rtlCol="0" anchor="ctr"/>
          <a:lstStyle/>
          <a:p>
            <a:pPr indent="0" marL="0">
              <a:buNone/>
            </a:pPr>
            <a:r>
              <a:rPr lang="en-US" sz="1100" b="1" dirty="0">
                <a:solidFill>
                  <a:srgbClr val="0A1628"/>
                </a:solidFill>
              </a:rPr>
              <a:t>Scalable Platform</a:t>
            </a:r>
            <a:endParaRPr lang="en-US" sz="1100" dirty="0"/>
          </a:p>
        </p:txBody>
      </p:sp>
      <p:sp>
        <p:nvSpPr>
          <p:cNvPr id="29" name="Text 21"/>
          <p:cNvSpPr/>
          <p:nvPr/>
        </p:nvSpPr>
        <p:spPr>
          <a:xfrm>
            <a:off x="6254496" y="3557016"/>
            <a:ext cx="2487168" cy="987552"/>
          </a:xfrm>
          <a:prstGeom prst="rect">
            <a:avLst/>
          </a:prstGeom>
          <a:noFill/>
          <a:ln/>
        </p:spPr>
        <p:txBody>
          <a:bodyPr wrap="square" rtlCol="0" anchor="ctr"/>
          <a:lstStyle/>
          <a:p>
            <a:pPr indent="0" marL="0">
              <a:buNone/>
            </a:pPr>
            <a:r>
              <a:rPr lang="en-US" sz="950" dirty="0">
                <a:solidFill>
                  <a:srgbClr val="1A3567"/>
                </a:solidFill>
              </a:rPr>
              <a:t>135,000+ active borrowers. 2,149 employees. 201 emerging-market branches. MSL embedded finance subsidiary adds a digital flywheel.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02  |  COMPANY OVERVIEW</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Text 3"/>
          <p:cNvSpPr/>
          <p:nvPr/>
        </p:nvSpPr>
        <p:spPr>
          <a:xfrm>
            <a:off x="365760" y="804672"/>
            <a:ext cx="4206240" cy="320040"/>
          </a:xfrm>
          <a:prstGeom prst="rect">
            <a:avLst/>
          </a:prstGeom>
          <a:noFill/>
          <a:ln/>
        </p:spPr>
        <p:txBody>
          <a:bodyPr wrap="square" rtlCol="0" anchor="ctr"/>
          <a:lstStyle/>
          <a:p>
            <a:pPr indent="0" marL="0">
              <a:buNone/>
            </a:pPr>
            <a:r>
              <a:rPr lang="en-US" sz="1300" b="1" dirty="0">
                <a:solidFill>
                  <a:srgbClr val="0A1628"/>
                </a:solidFill>
              </a:rPr>
              <a:t>UGRO FINANCE at a Glance</a:t>
            </a:r>
            <a:endParaRPr lang="en-US" sz="1300" dirty="0"/>
          </a:p>
        </p:txBody>
      </p:sp>
      <p:sp>
        <p:nvSpPr>
          <p:cNvPr id="6" name="Text 4"/>
          <p:cNvSpPr/>
          <p:nvPr/>
        </p:nvSpPr>
        <p:spPr>
          <a:xfrm>
            <a:off x="365760" y="1188720"/>
            <a:ext cx="4389120" cy="3474720"/>
          </a:xfrm>
          <a:prstGeom prst="rect">
            <a:avLst/>
          </a:prstGeom>
          <a:noFill/>
          <a:ln/>
        </p:spPr>
        <p:txBody>
          <a:bodyPr wrap="square" rtlCol="0" anchor="ctr"/>
          <a:lstStyle/>
          <a:p>
            <a:pPr marL="342900" indent="-342900">
              <a:spcAft>
                <a:spcPts val="600"/>
              </a:spcAft>
              <a:buSzPct val="100000"/>
              <a:buChar char="•"/>
            </a:pPr>
            <a:r>
              <a:rPr lang="en-US" sz="1050" dirty="0">
                <a:solidFill>
                  <a:srgbClr val="1A3567"/>
                </a:solidFill>
              </a:rPr>
              <a:t>Listed NBFC (NSE/BSE) focused exclusively on MSME lending — India's first 'DataTech Lender'</a:t>
            </a:r>
            <a:endParaRPr lang="en-US" sz="1050" dirty="0"/>
          </a:p>
          <a:p>
            <a:pPr marL="342900" indent="-342900">
              <a:spcAft>
                <a:spcPts val="600"/>
              </a:spcAft>
              <a:buSzPct val="100000"/>
              <a:buChar char="•"/>
            </a:pPr>
            <a:r>
              <a:rPr lang="en-US" sz="1050" dirty="0">
                <a:solidFill>
                  <a:srgbClr val="1A3567"/>
                </a:solidFill>
              </a:rPr>
              <a:t>Founded 2018 by Shachindra Nath (ex-Religare Capital). Backed by marquee institutional investors</a:t>
            </a:r>
            <a:endParaRPr lang="en-US" sz="1050" dirty="0"/>
          </a:p>
          <a:p>
            <a:pPr marL="342900" indent="-342900">
              <a:spcAft>
                <a:spcPts val="600"/>
              </a:spcAft>
              <a:buSzPct val="100000"/>
              <a:buChar char="•"/>
            </a:pPr>
            <a:r>
              <a:rPr lang="en-US" sz="1050" dirty="0">
                <a:solidFill>
                  <a:srgbClr val="1A3567"/>
                </a:solidFill>
              </a:rPr>
              <a:t>Multi-channel distribution: Branch-led (220 branches), Co-lending (17 bank partners, 44% off-book AUM), Embedded Finance (MSL subsidiary)</a:t>
            </a:r>
            <a:endParaRPr lang="en-US" sz="1050" dirty="0"/>
          </a:p>
          <a:p>
            <a:pPr marL="342900" indent="-342900">
              <a:spcAft>
                <a:spcPts val="600"/>
              </a:spcAft>
              <a:buSzPct val="100000"/>
              <a:buChar char="•"/>
            </a:pPr>
            <a:r>
              <a:rPr lang="en-US" sz="1050" dirty="0">
                <a:solidFill>
                  <a:srgbClr val="1A3567"/>
                </a:solidFill>
              </a:rPr>
              <a:t>GRO Score™: Patented AI/ML credit engine processing 10,000+ variables across GST, banking, bureau &amp; psychometric data</a:t>
            </a:r>
            <a:endParaRPr lang="en-US" sz="1050" dirty="0"/>
          </a:p>
          <a:p>
            <a:pPr marL="342900" indent="-342900">
              <a:spcAft>
                <a:spcPts val="600"/>
              </a:spcAft>
              <a:buSzPct val="100000"/>
              <a:buChar char="•"/>
            </a:pPr>
            <a:r>
              <a:rPr lang="en-US" sz="1050" dirty="0">
                <a:solidFill>
                  <a:srgbClr val="1A3567"/>
                </a:solidFill>
              </a:rPr>
              <a:t>Diversified product suite: LAP, Business Loans, Machinery Finance, Retailer Finance, Doctor Loans, EDI Loans, Green Asset Finance</a:t>
            </a:r>
            <a:endParaRPr lang="en-US" sz="1050" dirty="0"/>
          </a:p>
          <a:p>
            <a:pPr marL="342900" indent="-342900">
              <a:spcAft>
                <a:spcPts val="600"/>
              </a:spcAft>
              <a:buSzPct val="100000"/>
              <a:buChar char="•"/>
            </a:pPr>
            <a:r>
              <a:rPr lang="en-US" sz="1050" dirty="0">
                <a:solidFill>
                  <a:srgbClr val="1A3567"/>
                </a:solidFill>
              </a:rPr>
              <a:t>Avg ticket size ~₹16 lakh; Emerging-Market yields ~19%; Cost of funds well-managed through co-lending</a:t>
            </a:r>
            <a:endParaRPr lang="en-US" sz="1050" dirty="0"/>
          </a:p>
        </p:txBody>
      </p:sp>
      <p:sp>
        <p:nvSpPr>
          <p:cNvPr id="7" name="Shape 5"/>
          <p:cNvSpPr/>
          <p:nvPr/>
        </p:nvSpPr>
        <p:spPr>
          <a:xfrm>
            <a:off x="5029200" y="777240"/>
            <a:ext cx="3749040" cy="4114800"/>
          </a:xfrm>
          <a:prstGeom prst="rect">
            <a:avLst/>
          </a:prstGeom>
          <a:solidFill>
            <a:srgbClr val="F0F4F8"/>
          </a:solidFill>
          <a:ln w="12700">
            <a:solidFill>
              <a:srgbClr val="F0F4F8"/>
            </a:solidFill>
            <a:prstDash val="solid"/>
          </a:ln>
        </p:spPr>
        <p:txBody>
          <a:bodyPr/>
          <a:p/>
        </p:txBody>
      </p:sp>
      <p:sp>
        <p:nvSpPr>
          <p:cNvPr id="8" name="Text 6"/>
          <p:cNvSpPr/>
          <p:nvPr/>
        </p:nvSpPr>
        <p:spPr>
          <a:xfrm>
            <a:off x="5120640" y="868680"/>
            <a:ext cx="3566160" cy="320040"/>
          </a:xfrm>
          <a:prstGeom prst="rect">
            <a:avLst/>
          </a:prstGeom>
          <a:noFill/>
          <a:ln/>
        </p:spPr>
        <p:txBody>
          <a:bodyPr wrap="square" rtlCol="0" anchor="ctr"/>
          <a:lstStyle/>
          <a:p>
            <a:pPr indent="0" marL="0">
              <a:buNone/>
            </a:pPr>
            <a:r>
              <a:rPr lang="en-US" sz="1100" b="1" dirty="0">
                <a:solidFill>
                  <a:srgbClr val="0A1628"/>
                </a:solidFill>
              </a:rPr>
              <a:t>Revenue &amp; AUM Channel Mix</a:t>
            </a:r>
            <a:endParaRPr lang="en-US" sz="1100" dirty="0"/>
          </a:p>
        </p:txBody>
      </p:sp>
      <p:sp>
        <p:nvSpPr>
          <p:cNvPr id="9" name="Shape 7"/>
          <p:cNvSpPr/>
          <p:nvPr/>
        </p:nvSpPr>
        <p:spPr>
          <a:xfrm>
            <a:off x="5120640" y="1298448"/>
            <a:ext cx="3520440" cy="749808"/>
          </a:xfrm>
          <a:prstGeom prst="rect">
            <a:avLst/>
          </a:prstGeom>
          <a:solidFill>
            <a:srgbClr val="FFFFFF"/>
          </a:solidFill>
          <a:ln w="12700">
            <a:solidFill>
              <a:srgbClr val="FFFFFF"/>
            </a:solidFill>
            <a:prstDash val="solid"/>
          </a:ln>
        </p:spPr>
        <p:txBody>
          <a:bodyPr/>
          <a:p/>
        </p:txBody>
      </p:sp>
      <p:sp>
        <p:nvSpPr>
          <p:cNvPr id="10" name="Shape 8"/>
          <p:cNvSpPr/>
          <p:nvPr/>
        </p:nvSpPr>
        <p:spPr>
          <a:xfrm>
            <a:off x="5120640" y="1298448"/>
            <a:ext cx="54864" cy="749808"/>
          </a:xfrm>
          <a:prstGeom prst="rect">
            <a:avLst/>
          </a:prstGeom>
          <a:solidFill>
            <a:srgbClr val="1E4488"/>
          </a:solidFill>
          <a:ln w="12700">
            <a:solidFill>
              <a:srgbClr val="1E4488"/>
            </a:solidFill>
            <a:prstDash val="solid"/>
          </a:ln>
        </p:spPr>
        <p:txBody>
          <a:bodyPr/>
          <a:p/>
        </p:txBody>
      </p:sp>
      <p:sp>
        <p:nvSpPr>
          <p:cNvPr id="11" name="Text 9"/>
          <p:cNvSpPr/>
          <p:nvPr/>
        </p:nvSpPr>
        <p:spPr>
          <a:xfrm>
            <a:off x="5230368" y="1353312"/>
            <a:ext cx="685800" cy="384048"/>
          </a:xfrm>
          <a:prstGeom prst="rect">
            <a:avLst/>
          </a:prstGeom>
          <a:noFill/>
          <a:ln/>
        </p:spPr>
        <p:txBody>
          <a:bodyPr wrap="square" rtlCol="0" anchor="ctr"/>
          <a:lstStyle/>
          <a:p>
            <a:pPr indent="0" marL="0">
              <a:buNone/>
            </a:pPr>
            <a:r>
              <a:rPr lang="en-US" sz="2200" b="1" dirty="0">
                <a:solidFill>
                  <a:srgbClr val="1E4488"/>
                </a:solidFill>
                <a:latin typeface="Georgia" pitchFamily="34" charset="0"/>
                <a:ea typeface="Georgia" pitchFamily="34" charset="-122"/>
                <a:cs typeface="Georgia" pitchFamily="34" charset="-120"/>
              </a:rPr>
              <a:t>44%</a:t>
            </a:r>
            <a:endParaRPr lang="en-US" sz="2200" dirty="0"/>
          </a:p>
        </p:txBody>
      </p:sp>
      <p:sp>
        <p:nvSpPr>
          <p:cNvPr id="12" name="Text 10"/>
          <p:cNvSpPr/>
          <p:nvPr/>
        </p:nvSpPr>
        <p:spPr>
          <a:xfrm>
            <a:off x="5961888" y="1353312"/>
            <a:ext cx="2560320" cy="256032"/>
          </a:xfrm>
          <a:prstGeom prst="rect">
            <a:avLst/>
          </a:prstGeom>
          <a:noFill/>
          <a:ln/>
        </p:spPr>
        <p:txBody>
          <a:bodyPr wrap="square" rtlCol="0" anchor="ctr"/>
          <a:lstStyle/>
          <a:p>
            <a:pPr indent="0" marL="0">
              <a:buNone/>
            </a:pPr>
            <a:r>
              <a:rPr lang="en-US" sz="1100" b="1" dirty="0">
                <a:solidFill>
                  <a:srgbClr val="0A1628"/>
                </a:solidFill>
              </a:rPr>
              <a:t>Co-Lending / Off-Book</a:t>
            </a:r>
            <a:endParaRPr lang="en-US" sz="1100" dirty="0"/>
          </a:p>
        </p:txBody>
      </p:sp>
      <p:sp>
        <p:nvSpPr>
          <p:cNvPr id="13" name="Text 11"/>
          <p:cNvSpPr/>
          <p:nvPr/>
        </p:nvSpPr>
        <p:spPr>
          <a:xfrm>
            <a:off x="5961888" y="1682496"/>
            <a:ext cx="2560320" cy="256032"/>
          </a:xfrm>
          <a:prstGeom prst="rect">
            <a:avLst/>
          </a:prstGeom>
          <a:noFill/>
          <a:ln/>
        </p:spPr>
        <p:txBody>
          <a:bodyPr wrap="square" rtlCol="0" anchor="ctr"/>
          <a:lstStyle/>
          <a:p>
            <a:pPr indent="0" marL="0">
              <a:buNone/>
            </a:pPr>
            <a:r>
              <a:rPr lang="en-US" sz="900" dirty="0">
                <a:solidFill>
                  <a:srgbClr val="8899AA"/>
                </a:solidFill>
              </a:rPr>
              <a:t>17 bank partners | Priority Sector</a:t>
            </a:r>
            <a:endParaRPr lang="en-US" sz="900" dirty="0"/>
          </a:p>
        </p:txBody>
      </p:sp>
      <p:sp>
        <p:nvSpPr>
          <p:cNvPr id="14" name="Shape 12"/>
          <p:cNvSpPr/>
          <p:nvPr/>
        </p:nvSpPr>
        <p:spPr>
          <a:xfrm>
            <a:off x="5120640" y="2167128"/>
            <a:ext cx="3520440" cy="749808"/>
          </a:xfrm>
          <a:prstGeom prst="rect">
            <a:avLst/>
          </a:prstGeom>
          <a:solidFill>
            <a:srgbClr val="FFFFFF"/>
          </a:solidFill>
          <a:ln w="12700">
            <a:solidFill>
              <a:srgbClr val="FFFFFF"/>
            </a:solidFill>
            <a:prstDash val="solid"/>
          </a:ln>
        </p:spPr>
        <p:txBody>
          <a:bodyPr/>
          <a:p/>
        </p:txBody>
      </p:sp>
      <p:sp>
        <p:nvSpPr>
          <p:cNvPr id="15" name="Shape 13"/>
          <p:cNvSpPr/>
          <p:nvPr/>
        </p:nvSpPr>
        <p:spPr>
          <a:xfrm>
            <a:off x="5120640" y="2167128"/>
            <a:ext cx="54864" cy="749808"/>
          </a:xfrm>
          <a:prstGeom prst="rect">
            <a:avLst/>
          </a:prstGeom>
          <a:solidFill>
            <a:srgbClr val="0E7C7B"/>
          </a:solidFill>
          <a:ln w="12700">
            <a:solidFill>
              <a:srgbClr val="0E7C7B"/>
            </a:solidFill>
            <a:prstDash val="solid"/>
          </a:ln>
        </p:spPr>
        <p:txBody>
          <a:bodyPr/>
          <a:p/>
        </p:txBody>
      </p:sp>
      <p:sp>
        <p:nvSpPr>
          <p:cNvPr id="16" name="Text 14"/>
          <p:cNvSpPr/>
          <p:nvPr/>
        </p:nvSpPr>
        <p:spPr>
          <a:xfrm>
            <a:off x="5230368" y="2221992"/>
            <a:ext cx="685800" cy="384048"/>
          </a:xfrm>
          <a:prstGeom prst="rect">
            <a:avLst/>
          </a:prstGeom>
          <a:noFill/>
          <a:ln/>
        </p:spPr>
        <p:txBody>
          <a:bodyPr wrap="square" rtlCol="0" anchor="ctr"/>
          <a:lstStyle/>
          <a:p>
            <a:pPr indent="0" marL="0">
              <a:buNone/>
            </a:pPr>
            <a:r>
              <a:rPr lang="en-US" sz="2200" b="1" dirty="0">
                <a:solidFill>
                  <a:srgbClr val="0E7C7B"/>
                </a:solidFill>
                <a:latin typeface="Georgia" pitchFamily="34" charset="0"/>
                <a:ea typeface="Georgia" pitchFamily="34" charset="-122"/>
                <a:cs typeface="Georgia" pitchFamily="34" charset="-120"/>
              </a:rPr>
              <a:t>34%</a:t>
            </a:r>
            <a:endParaRPr lang="en-US" sz="2200" dirty="0"/>
          </a:p>
        </p:txBody>
      </p:sp>
      <p:sp>
        <p:nvSpPr>
          <p:cNvPr id="17" name="Text 15"/>
          <p:cNvSpPr/>
          <p:nvPr/>
        </p:nvSpPr>
        <p:spPr>
          <a:xfrm>
            <a:off x="5961888" y="2221992"/>
            <a:ext cx="2560320" cy="256032"/>
          </a:xfrm>
          <a:prstGeom prst="rect">
            <a:avLst/>
          </a:prstGeom>
          <a:noFill/>
          <a:ln/>
        </p:spPr>
        <p:txBody>
          <a:bodyPr wrap="square" rtlCol="0" anchor="ctr"/>
          <a:lstStyle/>
          <a:p>
            <a:pPr indent="0" marL="0">
              <a:buNone/>
            </a:pPr>
            <a:r>
              <a:rPr lang="en-US" sz="1100" b="1" dirty="0">
                <a:solidFill>
                  <a:srgbClr val="0A1628"/>
                </a:solidFill>
              </a:rPr>
              <a:t>Branch-Led (On-Book)</a:t>
            </a:r>
            <a:endParaRPr lang="en-US" sz="1100" dirty="0"/>
          </a:p>
        </p:txBody>
      </p:sp>
      <p:sp>
        <p:nvSpPr>
          <p:cNvPr id="18" name="Text 16"/>
          <p:cNvSpPr/>
          <p:nvPr/>
        </p:nvSpPr>
        <p:spPr>
          <a:xfrm>
            <a:off x="5961888" y="2551176"/>
            <a:ext cx="2560320" cy="256032"/>
          </a:xfrm>
          <a:prstGeom prst="rect">
            <a:avLst/>
          </a:prstGeom>
          <a:noFill/>
          <a:ln/>
        </p:spPr>
        <p:txBody>
          <a:bodyPr wrap="square" rtlCol="0" anchor="ctr"/>
          <a:lstStyle/>
          <a:p>
            <a:pPr indent="0" marL="0">
              <a:buNone/>
            </a:pPr>
            <a:r>
              <a:rPr lang="en-US" sz="900" dirty="0">
                <a:solidFill>
                  <a:srgbClr val="8899AA"/>
                </a:solidFill>
              </a:rPr>
              <a:t>220 branches | Secured &amp; Unsecured</a:t>
            </a:r>
            <a:endParaRPr lang="en-US" sz="900" dirty="0"/>
          </a:p>
        </p:txBody>
      </p:sp>
      <p:sp>
        <p:nvSpPr>
          <p:cNvPr id="19" name="Shape 17"/>
          <p:cNvSpPr/>
          <p:nvPr/>
        </p:nvSpPr>
        <p:spPr>
          <a:xfrm>
            <a:off x="5120640" y="3035808"/>
            <a:ext cx="3520440" cy="749808"/>
          </a:xfrm>
          <a:prstGeom prst="rect">
            <a:avLst/>
          </a:prstGeom>
          <a:solidFill>
            <a:srgbClr val="FFFFFF"/>
          </a:solidFill>
          <a:ln w="12700">
            <a:solidFill>
              <a:srgbClr val="FFFFFF"/>
            </a:solidFill>
            <a:prstDash val="solid"/>
          </a:ln>
        </p:spPr>
        <p:txBody>
          <a:bodyPr/>
          <a:p/>
        </p:txBody>
      </p:sp>
      <p:sp>
        <p:nvSpPr>
          <p:cNvPr id="20" name="Shape 18"/>
          <p:cNvSpPr/>
          <p:nvPr/>
        </p:nvSpPr>
        <p:spPr>
          <a:xfrm>
            <a:off x="5120640" y="3035808"/>
            <a:ext cx="54864" cy="749808"/>
          </a:xfrm>
          <a:prstGeom prst="rect">
            <a:avLst/>
          </a:prstGeom>
          <a:solidFill>
            <a:srgbClr val="C9A84C"/>
          </a:solidFill>
          <a:ln w="12700">
            <a:solidFill>
              <a:srgbClr val="C9A84C"/>
            </a:solidFill>
            <a:prstDash val="solid"/>
          </a:ln>
        </p:spPr>
        <p:txBody>
          <a:bodyPr/>
          <a:p/>
        </p:txBody>
      </p:sp>
      <p:sp>
        <p:nvSpPr>
          <p:cNvPr id="21" name="Text 19"/>
          <p:cNvSpPr/>
          <p:nvPr/>
        </p:nvSpPr>
        <p:spPr>
          <a:xfrm>
            <a:off x="5230368" y="3090672"/>
            <a:ext cx="685800" cy="384048"/>
          </a:xfrm>
          <a:prstGeom prst="rect">
            <a:avLst/>
          </a:prstGeom>
          <a:noFill/>
          <a:ln/>
        </p:spPr>
        <p:txBody>
          <a:bodyPr wrap="square" rtlCol="0" anchor="ctr"/>
          <a:lstStyle/>
          <a:p>
            <a:pPr indent="0" marL="0">
              <a:buNone/>
            </a:pPr>
            <a:r>
              <a:rPr lang="en-US" sz="2200" b="1" dirty="0">
                <a:solidFill>
                  <a:srgbClr val="C9A84C"/>
                </a:solidFill>
                <a:latin typeface="Georgia" pitchFamily="34" charset="0"/>
                <a:ea typeface="Georgia" pitchFamily="34" charset="-122"/>
                <a:cs typeface="Georgia" pitchFamily="34" charset="-120"/>
              </a:rPr>
              <a:t>7%</a:t>
            </a:r>
            <a:endParaRPr lang="en-US" sz="2200" dirty="0"/>
          </a:p>
        </p:txBody>
      </p:sp>
      <p:sp>
        <p:nvSpPr>
          <p:cNvPr id="22" name="Text 20"/>
          <p:cNvSpPr/>
          <p:nvPr/>
        </p:nvSpPr>
        <p:spPr>
          <a:xfrm>
            <a:off x="5961888" y="3090672"/>
            <a:ext cx="2560320" cy="256032"/>
          </a:xfrm>
          <a:prstGeom prst="rect">
            <a:avLst/>
          </a:prstGeom>
          <a:noFill/>
          <a:ln/>
        </p:spPr>
        <p:txBody>
          <a:bodyPr wrap="square" rtlCol="0" anchor="ctr"/>
          <a:lstStyle/>
          <a:p>
            <a:pPr indent="0" marL="0">
              <a:buNone/>
            </a:pPr>
            <a:r>
              <a:rPr lang="en-US" sz="1100" b="1" dirty="0">
                <a:solidFill>
                  <a:srgbClr val="0A1628"/>
                </a:solidFill>
              </a:rPr>
              <a:t>Embedded Finance (MSL)</a:t>
            </a:r>
            <a:endParaRPr lang="en-US" sz="1100" dirty="0"/>
          </a:p>
        </p:txBody>
      </p:sp>
      <p:sp>
        <p:nvSpPr>
          <p:cNvPr id="23" name="Text 21"/>
          <p:cNvSpPr/>
          <p:nvPr/>
        </p:nvSpPr>
        <p:spPr>
          <a:xfrm>
            <a:off x="5961888" y="3419856"/>
            <a:ext cx="2560320" cy="256032"/>
          </a:xfrm>
          <a:prstGeom prst="rect">
            <a:avLst/>
          </a:prstGeom>
          <a:noFill/>
          <a:ln/>
        </p:spPr>
        <p:txBody>
          <a:bodyPr wrap="square" rtlCol="0" anchor="ctr"/>
          <a:lstStyle/>
          <a:p>
            <a:pPr indent="0" marL="0">
              <a:buNone/>
            </a:pPr>
            <a:r>
              <a:rPr lang="en-US" sz="900" dirty="0">
                <a:solidFill>
                  <a:srgbClr val="8899AA"/>
                </a:solidFill>
              </a:rPr>
              <a:t>₹743 Cr AUM | Digital first</a:t>
            </a:r>
            <a:endParaRPr lang="en-US" sz="900" dirty="0"/>
          </a:p>
        </p:txBody>
      </p:sp>
      <p:sp>
        <p:nvSpPr>
          <p:cNvPr id="24" name="Shape 22"/>
          <p:cNvSpPr/>
          <p:nvPr/>
        </p:nvSpPr>
        <p:spPr>
          <a:xfrm>
            <a:off x="5120640" y="3904488"/>
            <a:ext cx="3520440" cy="749808"/>
          </a:xfrm>
          <a:prstGeom prst="rect">
            <a:avLst/>
          </a:prstGeom>
          <a:solidFill>
            <a:srgbClr val="FFFFFF"/>
          </a:solidFill>
          <a:ln w="12700">
            <a:solidFill>
              <a:srgbClr val="FFFFFF"/>
            </a:solidFill>
            <a:prstDash val="solid"/>
          </a:ln>
        </p:spPr>
        <p:txBody>
          <a:bodyPr/>
          <a:p/>
        </p:txBody>
      </p:sp>
      <p:sp>
        <p:nvSpPr>
          <p:cNvPr id="25" name="Shape 23"/>
          <p:cNvSpPr/>
          <p:nvPr/>
        </p:nvSpPr>
        <p:spPr>
          <a:xfrm>
            <a:off x="5120640" y="3904488"/>
            <a:ext cx="54864" cy="749808"/>
          </a:xfrm>
          <a:prstGeom prst="rect">
            <a:avLst/>
          </a:prstGeom>
          <a:solidFill>
            <a:srgbClr val="1A3567"/>
          </a:solidFill>
          <a:ln w="12700">
            <a:solidFill>
              <a:srgbClr val="1A3567"/>
            </a:solidFill>
            <a:prstDash val="solid"/>
          </a:ln>
        </p:spPr>
        <p:txBody>
          <a:bodyPr/>
          <a:p/>
        </p:txBody>
      </p:sp>
      <p:sp>
        <p:nvSpPr>
          <p:cNvPr id="26" name="Text 24"/>
          <p:cNvSpPr/>
          <p:nvPr/>
        </p:nvSpPr>
        <p:spPr>
          <a:xfrm>
            <a:off x="5230368" y="3959352"/>
            <a:ext cx="685800" cy="384048"/>
          </a:xfrm>
          <a:prstGeom prst="rect">
            <a:avLst/>
          </a:prstGeom>
          <a:noFill/>
          <a:ln/>
        </p:spPr>
        <p:txBody>
          <a:bodyPr wrap="square" rtlCol="0" anchor="ctr"/>
          <a:lstStyle/>
          <a:p>
            <a:pPr indent="0" marL="0">
              <a:buNone/>
            </a:pPr>
            <a:r>
              <a:rPr lang="en-US" sz="2200" b="1" dirty="0">
                <a:solidFill>
                  <a:srgbClr val="1A3567"/>
                </a:solidFill>
                <a:latin typeface="Georgia" pitchFamily="34" charset="0"/>
                <a:ea typeface="Georgia" pitchFamily="34" charset="-122"/>
                <a:cs typeface="Georgia" pitchFamily="34" charset="-120"/>
              </a:rPr>
              <a:t>15%</a:t>
            </a:r>
            <a:endParaRPr lang="en-US" sz="2200" dirty="0"/>
          </a:p>
        </p:txBody>
      </p:sp>
      <p:sp>
        <p:nvSpPr>
          <p:cNvPr id="27" name="Text 25"/>
          <p:cNvSpPr/>
          <p:nvPr/>
        </p:nvSpPr>
        <p:spPr>
          <a:xfrm>
            <a:off x="5961888" y="3959352"/>
            <a:ext cx="2560320" cy="256032"/>
          </a:xfrm>
          <a:prstGeom prst="rect">
            <a:avLst/>
          </a:prstGeom>
          <a:noFill/>
          <a:ln/>
        </p:spPr>
        <p:txBody>
          <a:bodyPr wrap="square" rtlCol="0" anchor="ctr"/>
          <a:lstStyle/>
          <a:p>
            <a:pPr indent="0" marL="0">
              <a:buNone/>
            </a:pPr>
            <a:r>
              <a:rPr lang="en-US" sz="1100" b="1" dirty="0">
                <a:solidFill>
                  <a:srgbClr val="0A1628"/>
                </a:solidFill>
              </a:rPr>
              <a:t>Emerging Markets</a:t>
            </a:r>
            <a:endParaRPr lang="en-US" sz="1100" dirty="0"/>
          </a:p>
        </p:txBody>
      </p:sp>
      <p:sp>
        <p:nvSpPr>
          <p:cNvPr id="28" name="Text 26"/>
          <p:cNvSpPr/>
          <p:nvPr/>
        </p:nvSpPr>
        <p:spPr>
          <a:xfrm>
            <a:off x="5961888" y="4288536"/>
            <a:ext cx="2560320" cy="256032"/>
          </a:xfrm>
          <a:prstGeom prst="rect">
            <a:avLst/>
          </a:prstGeom>
          <a:noFill/>
          <a:ln/>
        </p:spPr>
        <p:txBody>
          <a:bodyPr wrap="square" rtlCol="0" anchor="ctr"/>
          <a:lstStyle/>
          <a:p>
            <a:pPr indent="0" marL="0">
              <a:buNone/>
            </a:pPr>
            <a:r>
              <a:rPr lang="en-US" sz="900" dirty="0">
                <a:solidFill>
                  <a:srgbClr val="8899AA"/>
                </a:solidFill>
              </a:rPr>
              <a:t>201 EM branches | Tier 2-5 towns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03  |  FINANCIAL PERFORMANCE</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28600" y="804672"/>
            <a:ext cx="1627632" cy="960120"/>
          </a:xfrm>
          <a:prstGeom prst="rect">
            <a:avLst/>
          </a:prstGeom>
          <a:solidFill>
            <a:srgbClr val="0A1628"/>
          </a:solidFill>
          <a:ln w="12700">
            <a:solidFill>
              <a:srgbClr val="C9A84C"/>
            </a:solidFill>
            <a:prstDash val="solid"/>
          </a:ln>
        </p:spPr>
        <p:txBody>
          <a:bodyPr/>
          <a:p/>
        </p:txBody>
      </p:sp>
      <p:sp>
        <p:nvSpPr>
          <p:cNvPr id="6" name="Text 4"/>
          <p:cNvSpPr/>
          <p:nvPr/>
        </p:nvSpPr>
        <p:spPr>
          <a:xfrm>
            <a:off x="228600"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Not Available</a:t>
            </a:r>
            <a:endParaRPr lang="en-US" sz="1700" dirty="0"/>
          </a:p>
        </p:txBody>
      </p:sp>
      <p:sp>
        <p:nvSpPr>
          <p:cNvPr id="7" name="Text 5"/>
          <p:cNvSpPr/>
          <p:nvPr/>
        </p:nvSpPr>
        <p:spPr>
          <a:xfrm>
            <a:off x="228600" y="1234440"/>
            <a:ext cx="1627632" cy="228600"/>
          </a:xfrm>
          <a:prstGeom prst="rect">
            <a:avLst/>
          </a:prstGeom>
          <a:noFill/>
          <a:ln/>
        </p:spPr>
        <p:txBody>
          <a:bodyPr wrap="square" rtlCol="0" anchor="ctr"/>
          <a:lstStyle/>
          <a:p>
            <a:pPr algn="ctr" indent="0" marL="0">
              <a:buNone/>
            </a:pPr>
            <a:r>
              <a:rPr lang="en-US" sz="900" dirty="0">
                <a:solidFill>
                  <a:srgbClr val="FFFFFF"/>
                </a:solidFill>
              </a:rPr>
              <a:t>AUM</a:t>
            </a:r>
            <a:endParaRPr lang="en-US" sz="900" dirty="0"/>
          </a:p>
        </p:txBody>
      </p:sp>
      <p:sp>
        <p:nvSpPr>
          <p:cNvPr id="8" name="Text 6"/>
          <p:cNvSpPr/>
          <p:nvPr/>
        </p:nvSpPr>
        <p:spPr>
          <a:xfrm>
            <a:off x="228600" y="1463040"/>
            <a:ext cx="1627632" cy="219456"/>
          </a:xfrm>
          <a:prstGeom prst="rect">
            <a:avLst/>
          </a:prstGeom>
          <a:noFill/>
          <a:ln/>
        </p:spPr>
        <p:txBody>
          <a:bodyPr wrap="square" rtlCol="0" anchor="ctr"/>
          <a:lstStyle/>
          <a:p>
            <a:pPr algn="ctr" indent="0" marL="0">
              <a:buNone/>
            </a:pPr>
            <a:r>
              <a:rPr lang="en-US" sz="850" dirty="0">
                <a:solidFill>
                  <a:srgbClr val="14B8B7"/>
                </a:solidFill>
              </a:rPr>
              <a:t>+Not Available YoY</a:t>
            </a:r>
            <a:endParaRPr lang="en-US" sz="850" dirty="0"/>
          </a:p>
        </p:txBody>
      </p:sp>
      <p:sp>
        <p:nvSpPr>
          <p:cNvPr id="9" name="Shape 7"/>
          <p:cNvSpPr/>
          <p:nvPr/>
        </p:nvSpPr>
        <p:spPr>
          <a:xfrm>
            <a:off x="1993392" y="804672"/>
            <a:ext cx="1627632" cy="960120"/>
          </a:xfrm>
          <a:prstGeom prst="rect">
            <a:avLst/>
          </a:prstGeom>
          <a:solidFill>
            <a:srgbClr val="0A1628"/>
          </a:solidFill>
          <a:ln w="12700">
            <a:solidFill>
              <a:srgbClr val="C9A84C"/>
            </a:solidFill>
            <a:prstDash val="solid"/>
          </a:ln>
        </p:spPr>
        <p:txBody>
          <a:bodyPr/>
          <a:p/>
        </p:txBody>
      </p:sp>
      <p:sp>
        <p:nvSpPr>
          <p:cNvPr id="10" name="Text 8"/>
          <p:cNvSpPr/>
          <p:nvPr/>
        </p:nvSpPr>
        <p:spPr>
          <a:xfrm>
            <a:off x="1993392"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₹7,651 Cr</a:t>
            </a:r>
            <a:endParaRPr lang="en-US" sz="1700" dirty="0"/>
          </a:p>
        </p:txBody>
      </p:sp>
      <p:sp>
        <p:nvSpPr>
          <p:cNvPr id="11" name="Text 9"/>
          <p:cNvSpPr/>
          <p:nvPr/>
        </p:nvSpPr>
        <p:spPr>
          <a:xfrm>
            <a:off x="1993392" y="1234440"/>
            <a:ext cx="1627632" cy="228600"/>
          </a:xfrm>
          <a:prstGeom prst="rect">
            <a:avLst/>
          </a:prstGeom>
          <a:noFill/>
          <a:ln/>
        </p:spPr>
        <p:txBody>
          <a:bodyPr wrap="square" rtlCol="0" anchor="ctr"/>
          <a:lstStyle/>
          <a:p>
            <a:pPr algn="ctr" indent="0" marL="0">
              <a:buNone/>
            </a:pPr>
            <a:r>
              <a:rPr lang="en-US" sz="900" dirty="0">
                <a:solidFill>
                  <a:srgbClr val="FFFFFF"/>
                </a:solidFill>
              </a:rPr>
              <a:t>Disbursements</a:t>
            </a:r>
            <a:endParaRPr lang="en-US" sz="900" dirty="0"/>
          </a:p>
        </p:txBody>
      </p:sp>
      <p:sp>
        <p:nvSpPr>
          <p:cNvPr id="12" name="Text 10"/>
          <p:cNvSpPr/>
          <p:nvPr/>
        </p:nvSpPr>
        <p:spPr>
          <a:xfrm>
            <a:off x="1993392" y="1463040"/>
            <a:ext cx="1627632" cy="219456"/>
          </a:xfrm>
          <a:prstGeom prst="rect">
            <a:avLst/>
          </a:prstGeom>
          <a:noFill/>
          <a:ln/>
        </p:spPr>
        <p:txBody>
          <a:bodyPr wrap="square" rtlCol="0" anchor="ctr"/>
          <a:lstStyle/>
          <a:p>
            <a:pPr algn="ctr" indent="0" marL="0">
              <a:buNone/>
            </a:pPr>
            <a:r>
              <a:rPr lang="en-US" sz="850" dirty="0">
                <a:solidFill>
                  <a:srgbClr val="14B8B7"/>
                </a:solidFill>
              </a:rPr>
              <a:t>+30% YoY</a:t>
            </a:r>
            <a:endParaRPr lang="en-US" sz="850" dirty="0"/>
          </a:p>
        </p:txBody>
      </p:sp>
      <p:sp>
        <p:nvSpPr>
          <p:cNvPr id="13" name="Shape 11"/>
          <p:cNvSpPr/>
          <p:nvPr/>
        </p:nvSpPr>
        <p:spPr>
          <a:xfrm>
            <a:off x="3758184" y="804672"/>
            <a:ext cx="1627632" cy="960120"/>
          </a:xfrm>
          <a:prstGeom prst="rect">
            <a:avLst/>
          </a:prstGeom>
          <a:solidFill>
            <a:srgbClr val="0A1628"/>
          </a:solidFill>
          <a:ln w="12700">
            <a:solidFill>
              <a:srgbClr val="C9A84C"/>
            </a:solidFill>
            <a:prstDash val="solid"/>
          </a:ln>
        </p:spPr>
        <p:txBody>
          <a:bodyPr/>
          <a:p/>
        </p:txBody>
      </p:sp>
      <p:sp>
        <p:nvSpPr>
          <p:cNvPr id="14" name="Text 12"/>
          <p:cNvSpPr/>
          <p:nvPr/>
        </p:nvSpPr>
        <p:spPr>
          <a:xfrm>
            <a:off x="3758184"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₹1,442 Cr</a:t>
            </a:r>
            <a:endParaRPr lang="en-US" sz="1700" dirty="0"/>
          </a:p>
        </p:txBody>
      </p:sp>
      <p:sp>
        <p:nvSpPr>
          <p:cNvPr id="15" name="Text 13"/>
          <p:cNvSpPr/>
          <p:nvPr/>
        </p:nvSpPr>
        <p:spPr>
          <a:xfrm>
            <a:off x="3758184" y="1234440"/>
            <a:ext cx="1627632" cy="228600"/>
          </a:xfrm>
          <a:prstGeom prst="rect">
            <a:avLst/>
          </a:prstGeom>
          <a:noFill/>
          <a:ln/>
        </p:spPr>
        <p:txBody>
          <a:bodyPr wrap="square" rtlCol="0" anchor="ctr"/>
          <a:lstStyle/>
          <a:p>
            <a:pPr algn="ctr" indent="0" marL="0">
              <a:buNone/>
            </a:pPr>
            <a:r>
              <a:rPr lang="en-US" sz="900" dirty="0">
                <a:solidFill>
                  <a:srgbClr val="FFFFFF"/>
                </a:solidFill>
              </a:rPr>
              <a:t>Total Income</a:t>
            </a:r>
            <a:endParaRPr lang="en-US" sz="900" dirty="0"/>
          </a:p>
        </p:txBody>
      </p:sp>
      <p:sp>
        <p:nvSpPr>
          <p:cNvPr id="16" name="Text 14"/>
          <p:cNvSpPr/>
          <p:nvPr/>
        </p:nvSpPr>
        <p:spPr>
          <a:xfrm>
            <a:off x="3758184" y="1463040"/>
            <a:ext cx="1627632" cy="219456"/>
          </a:xfrm>
          <a:prstGeom prst="rect">
            <a:avLst/>
          </a:prstGeom>
          <a:noFill/>
          <a:ln/>
        </p:spPr>
        <p:txBody>
          <a:bodyPr wrap="square" rtlCol="0" anchor="ctr"/>
          <a:lstStyle/>
          <a:p>
            <a:pPr algn="ctr" indent="0" marL="0">
              <a:buNone/>
            </a:pPr>
            <a:r>
              <a:rPr lang="en-US" sz="850" dirty="0">
                <a:solidFill>
                  <a:srgbClr val="14B8B7"/>
                </a:solidFill>
              </a:rPr>
              <a:t>+Not Available YoY</a:t>
            </a:r>
            <a:endParaRPr lang="en-US" sz="850" dirty="0"/>
          </a:p>
        </p:txBody>
      </p:sp>
      <p:sp>
        <p:nvSpPr>
          <p:cNvPr id="17" name="Shape 15"/>
          <p:cNvSpPr/>
          <p:nvPr/>
        </p:nvSpPr>
        <p:spPr>
          <a:xfrm>
            <a:off x="5522976" y="804672"/>
            <a:ext cx="1627632" cy="960120"/>
          </a:xfrm>
          <a:prstGeom prst="rect">
            <a:avLst/>
          </a:prstGeom>
          <a:solidFill>
            <a:srgbClr val="0A1628"/>
          </a:solidFill>
          <a:ln w="12700">
            <a:solidFill>
              <a:srgbClr val="C9A84C"/>
            </a:solidFill>
            <a:prstDash val="solid"/>
          </a:ln>
        </p:spPr>
        <p:txBody>
          <a:bodyPr/>
          <a:p/>
        </p:txBody>
      </p:sp>
      <p:sp>
        <p:nvSpPr>
          <p:cNvPr id="18" name="Text 16"/>
          <p:cNvSpPr/>
          <p:nvPr/>
        </p:nvSpPr>
        <p:spPr>
          <a:xfrm>
            <a:off x="5522976"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₹203 Cr</a:t>
            </a:r>
            <a:endParaRPr lang="en-US" sz="1700" dirty="0"/>
          </a:p>
        </p:txBody>
      </p:sp>
      <p:sp>
        <p:nvSpPr>
          <p:cNvPr id="19" name="Text 17"/>
          <p:cNvSpPr/>
          <p:nvPr/>
        </p:nvSpPr>
        <p:spPr>
          <a:xfrm>
            <a:off x="5522976" y="1234440"/>
            <a:ext cx="1627632" cy="228600"/>
          </a:xfrm>
          <a:prstGeom prst="rect">
            <a:avLst/>
          </a:prstGeom>
          <a:noFill/>
          <a:ln/>
        </p:spPr>
        <p:txBody>
          <a:bodyPr wrap="square" rtlCol="0" anchor="ctr"/>
          <a:lstStyle/>
          <a:p>
            <a:pPr algn="ctr" indent="0" marL="0">
              <a:buNone/>
            </a:pPr>
            <a:r>
              <a:rPr lang="en-US" sz="900" dirty="0">
                <a:solidFill>
                  <a:srgbClr val="FFFFFF"/>
                </a:solidFill>
              </a:rPr>
              <a:t>PBT</a:t>
            </a:r>
            <a:endParaRPr lang="en-US" sz="900" dirty="0"/>
          </a:p>
        </p:txBody>
      </p:sp>
      <p:sp>
        <p:nvSpPr>
          <p:cNvPr id="20" name="Text 18"/>
          <p:cNvSpPr/>
          <p:nvPr/>
        </p:nvSpPr>
        <p:spPr>
          <a:xfrm>
            <a:off x="5522976" y="1463040"/>
            <a:ext cx="1627632" cy="219456"/>
          </a:xfrm>
          <a:prstGeom prst="rect">
            <a:avLst/>
          </a:prstGeom>
          <a:noFill/>
          <a:ln/>
        </p:spPr>
        <p:txBody>
          <a:bodyPr wrap="square" rtlCol="0" anchor="ctr"/>
          <a:lstStyle/>
          <a:p>
            <a:pPr algn="ctr" indent="0" marL="0">
              <a:buNone/>
            </a:pPr>
            <a:r>
              <a:rPr lang="en-US" sz="850" dirty="0">
                <a:solidFill>
                  <a:srgbClr val="14B8B7"/>
                </a:solidFill>
              </a:rPr>
              <a:t>+14% YoY</a:t>
            </a:r>
            <a:endParaRPr lang="en-US" sz="850" dirty="0"/>
          </a:p>
        </p:txBody>
      </p:sp>
      <p:sp>
        <p:nvSpPr>
          <p:cNvPr id="21" name="Shape 19"/>
          <p:cNvSpPr/>
          <p:nvPr/>
        </p:nvSpPr>
        <p:spPr>
          <a:xfrm>
            <a:off x="7287768" y="804672"/>
            <a:ext cx="1627632" cy="960120"/>
          </a:xfrm>
          <a:prstGeom prst="rect">
            <a:avLst/>
          </a:prstGeom>
          <a:solidFill>
            <a:srgbClr val="0A1628"/>
          </a:solidFill>
          <a:ln w="12700">
            <a:solidFill>
              <a:srgbClr val="C9A84C"/>
            </a:solidFill>
            <a:prstDash val="solid"/>
          </a:ln>
        </p:spPr>
        <p:txBody>
          <a:bodyPr/>
          <a:p/>
        </p:txBody>
      </p:sp>
      <p:sp>
        <p:nvSpPr>
          <p:cNvPr id="22" name="Text 20"/>
          <p:cNvSpPr/>
          <p:nvPr/>
        </p:nvSpPr>
        <p:spPr>
          <a:xfrm>
            <a:off x="7287768"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₹144 Cr</a:t>
            </a:r>
            <a:endParaRPr lang="en-US" sz="1700" dirty="0"/>
          </a:p>
        </p:txBody>
      </p:sp>
      <p:sp>
        <p:nvSpPr>
          <p:cNvPr id="23" name="Text 21"/>
          <p:cNvSpPr/>
          <p:nvPr/>
        </p:nvSpPr>
        <p:spPr>
          <a:xfrm>
            <a:off x="7287768" y="1234440"/>
            <a:ext cx="1627632" cy="228600"/>
          </a:xfrm>
          <a:prstGeom prst="rect">
            <a:avLst/>
          </a:prstGeom>
          <a:noFill/>
          <a:ln/>
        </p:spPr>
        <p:txBody>
          <a:bodyPr wrap="square" rtlCol="0" anchor="ctr"/>
          <a:lstStyle/>
          <a:p>
            <a:pPr algn="ctr" indent="0" marL="0">
              <a:buNone/>
            </a:pPr>
            <a:r>
              <a:rPr lang="en-US" sz="900" dirty="0">
                <a:solidFill>
                  <a:srgbClr val="FFFFFF"/>
                </a:solidFill>
              </a:rPr>
              <a:t>PAT</a:t>
            </a:r>
            <a:endParaRPr lang="en-US" sz="900" dirty="0"/>
          </a:p>
        </p:txBody>
      </p:sp>
      <p:sp>
        <p:nvSpPr>
          <p:cNvPr id="24" name="Text 22"/>
          <p:cNvSpPr/>
          <p:nvPr/>
        </p:nvSpPr>
        <p:spPr>
          <a:xfrm>
            <a:off x="7287768" y="1463040"/>
            <a:ext cx="1627632" cy="219456"/>
          </a:xfrm>
          <a:prstGeom prst="rect">
            <a:avLst/>
          </a:prstGeom>
          <a:noFill/>
          <a:ln/>
        </p:spPr>
        <p:txBody>
          <a:bodyPr wrap="square" rtlCol="0" anchor="ctr"/>
          <a:lstStyle/>
          <a:p>
            <a:pPr algn="ctr" indent="0" marL="0">
              <a:buNone/>
            </a:pPr>
            <a:r>
              <a:rPr lang="en-US" sz="850" dirty="0">
                <a:solidFill>
                  <a:srgbClr val="14B8B7"/>
                </a:solidFill>
              </a:rPr>
              <a:t>₹15.68 EPS</a:t>
            </a:r>
            <a:endParaRPr lang="en-US" sz="850" dirty="0"/>
          </a:p>
        </p:txBody>
      </p:sp>
      <p:sp>
        <p:nvSpPr>
          <p:cNvPr id="25" name="Shape 23"/>
          <p:cNvSpPr/>
          <p:nvPr/>
        </p:nvSpPr>
        <p:spPr>
          <a:xfrm>
            <a:off x="228600" y="1920240"/>
            <a:ext cx="4160520" cy="2834640"/>
          </a:xfrm>
          <a:prstGeom prst="rect">
            <a:avLst/>
          </a:prstGeom>
          <a:solidFill>
            <a:srgbClr val="FFFFFF"/>
          </a:solidFill>
          <a:ln w="12700">
            <a:solidFill>
              <a:srgbClr val="FFFFFF"/>
            </a:solidFill>
            <a:prstDash val="solid"/>
          </a:ln>
        </p:spPr>
        <p:txBody>
          <a:bodyPr/>
          <a:p/>
        </p:txBody>
      </p:sp>
      <p:sp>
        <p:nvSpPr>
          <p:cNvPr id="26" name="Text 24"/>
          <p:cNvSpPr/>
          <p:nvPr/>
        </p:nvSpPr>
        <p:spPr>
          <a:xfrm>
            <a:off x="365760" y="1993392"/>
            <a:ext cx="3840480" cy="292608"/>
          </a:xfrm>
          <a:prstGeom prst="rect">
            <a:avLst/>
          </a:prstGeom>
          <a:noFill/>
          <a:ln/>
        </p:spPr>
        <p:txBody>
          <a:bodyPr wrap="square" rtlCol="0" anchor="ctr"/>
          <a:lstStyle/>
          <a:p>
            <a:pPr indent="0" marL="0">
              <a:buNone/>
            </a:pPr>
            <a:r>
              <a:rPr lang="en-US" sz="1100" b="1" dirty="0">
                <a:solidFill>
                  <a:srgbClr val="0A1628"/>
                </a:solidFill>
              </a:rPr>
              <a:t>AUM Growth (₹ Crore)</a:t>
            </a:r>
            <a:endParaRPr lang="en-US" sz="1100" dirty="0"/>
          </a:p>
        </p:txBody>
      </p:sp>
      <p:graphicFrame>
        <p:nvGraphicFramePr>
          <p:cNvPr id="27" name="Chart 0" descr=""/>
          <p:cNvGraphicFramePr/>
          <p:nvPr/>
        </p:nvGraphicFramePr>
        <p:xfrm>
          <a:off x="228600" y="2304288"/>
          <a:ext cx="4160520" cy="233172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4663440" y="1920240"/>
            <a:ext cx="4251960" cy="2834640"/>
          </a:xfrm>
          <a:prstGeom prst="rect">
            <a:avLst/>
          </a:prstGeom>
          <a:solidFill>
            <a:srgbClr val="FFFFFF"/>
          </a:solidFill>
          <a:ln w="12700">
            <a:solidFill>
              <a:srgbClr val="FFFFFF"/>
            </a:solidFill>
            <a:prstDash val="solid"/>
          </a:ln>
        </p:spPr>
        <p:txBody>
          <a:bodyPr/>
          <a:p/>
        </p:txBody>
      </p:sp>
      <p:sp>
        <p:nvSpPr>
          <p:cNvPr id="29" name="Text 26"/>
          <p:cNvSpPr/>
          <p:nvPr/>
        </p:nvSpPr>
        <p:spPr>
          <a:xfrm>
            <a:off x="4800600" y="1993392"/>
            <a:ext cx="3931920" cy="292608"/>
          </a:xfrm>
          <a:prstGeom prst="rect">
            <a:avLst/>
          </a:prstGeom>
          <a:noFill/>
          <a:ln/>
        </p:spPr>
        <p:txBody>
          <a:bodyPr wrap="square" rtlCol="0" anchor="ctr"/>
          <a:lstStyle/>
          <a:p>
            <a:pPr indent="0" marL="0">
              <a:buNone/>
            </a:pPr>
            <a:r>
              <a:rPr lang="en-US" sz="1100" b="1" dirty="0">
                <a:solidFill>
                  <a:srgbClr val="0A1628"/>
                </a:solidFill>
              </a:rPr>
              <a:t>Key Performance Ratios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09160" y="2331720"/>
          <a:ext cx="4160520" cy="2359152"/>
        </p:xfrm>
        <a:graphic>
          <a:graphicData uri="http://schemas.openxmlformats.org/drawingml/2006/table">
            <a:tbl>
              <a:tblPr/>
              <a:tblGrid>
                <a:gridCol w="2148840"/>
                <a:gridCol w="1005840"/>
                <a:gridCol w="1005840"/>
              </a:tblGrid>
              <a:tr h="262128">
                <a:tc>
                  <a:txBody>
                    <a:bodyPr/>
                    <a:lstStyle/>
                    <a:p>
                      <a:pPr algn="ctr" indent="0" marL="0">
                        <a:buNone/>
                      </a:pPr>
                      <a:r>
                        <a:rPr lang="en-US" sz="1000" b="1" dirty="0">
                          <a:solidFill>
                            <a:srgbClr val="FFFFFF"/>
                          </a:solidFill>
                        </a:rPr>
                        <a:t>Metric</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FY24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FY25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262128">
                <a:tc>
                  <a:txBody>
                    <a:bodyPr/>
                    <a:lstStyle/>
                    <a:p>
                      <a:pPr algn="l" indent="0" marL="0">
                        <a:buNone/>
                      </a:pPr>
                      <a:r>
                        <a:rPr lang="en-US" sz="1000" dirty="0">
                          <a:solidFill>
                            <a:srgbClr val="0A1628"/>
                          </a:solidFill>
                        </a:rPr>
                        <a:t>CRAR (%)</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19.4%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7C7B"/>
                          </a:solidFill>
                        </a:rPr>
                        <a:t>20.8%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ROA (%)</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2.4%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E7C7B"/>
                          </a:solidFill>
                        </a:rPr>
                        <a:t>2.8%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262128">
                <a:tc>
                  <a:txBody>
                    <a:bodyPr/>
                    <a:lstStyle/>
                    <a:p>
                      <a:pPr algn="l" indent="0" marL="0">
                        <a:buNone/>
                      </a:pPr>
                      <a:r>
                        <a:rPr lang="en-US" sz="1000" dirty="0">
                          <a:solidFill>
                            <a:srgbClr val="0A1628"/>
                          </a:solidFill>
                        </a:rPr>
                        <a:t>ROE (%)¹</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8.7%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7C7B"/>
                          </a:solidFill>
                        </a:rPr>
                        <a:t>9.9%</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GNPA (%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2.3%</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2.3%</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262128">
                <a:tc>
                  <a:txBody>
                    <a:bodyPr/>
                    <a:lstStyle/>
                    <a:p>
                      <a:pPr algn="l" indent="0" marL="0">
                        <a:buNone/>
                      </a:pPr>
                      <a:r>
                        <a:rPr lang="en-US" sz="1000" dirty="0">
                          <a:solidFill>
                            <a:srgbClr val="0A1628"/>
                          </a:solidFill>
                        </a:rPr>
                        <a:t>NNPA (%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1.6%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1.6%</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Cost-to-Income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54%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54%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262128">
                <a:tc>
                  <a:txBody>
                    <a:bodyPr/>
                    <a:lstStyle/>
                    <a:p>
                      <a:pPr algn="l" indent="0" marL="0">
                        <a:buNone/>
                      </a:pPr>
                      <a:r>
                        <a:rPr lang="en-US" sz="1000" dirty="0">
                          <a:solidFill>
                            <a:srgbClr val="0A1628"/>
                          </a:solidFill>
                        </a:rPr>
                        <a:t>Off-Book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42%</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7C7B"/>
                          </a:solidFill>
                        </a:rPr>
                        <a:t>45%</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Net Total Income /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13.7%</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E7C7B"/>
                          </a:solidFill>
                        </a:rPr>
                        <a:t>14.8%</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bl>
          </a:graphicData>
        </a:graphic>
      </p:graphicFrame>
      <p:sp>
        <p:nvSpPr>
          <p:cNvPr id="31" name="Text 27"/>
          <p:cNvSpPr/>
          <p:nvPr/>
        </p:nvSpPr>
        <p:spPr>
          <a:xfrm>
            <a:off x="4709160" y="4727448"/>
            <a:ext cx="4160520" cy="182880"/>
          </a:xfrm>
          <a:prstGeom prst="rect">
            <a:avLst/>
          </a:prstGeom>
          <a:noFill/>
          <a:ln/>
        </p:spPr>
        <p:txBody>
          <a:bodyPr wrap="square" rtlCol="0" anchor="ctr"/>
          <a:lstStyle/>
          <a:p>
            <a:pPr indent="0" marL="0">
              <a:buNone/>
            </a:pPr>
            <a:r>
              <a:rPr lang="en-US" sz="750" dirty="0">
                <a:solidFill>
                  <a:srgbClr val="8899AA"/>
                </a:solidFill>
              </a:rPr>
              <a:t>¹ Excluding equity component of CCDs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04  |  COMPETITIVE POSITIONING &amp; MOAT</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74320" y="822960"/>
            <a:ext cx="4206240" cy="4041648"/>
          </a:xfrm>
          <a:prstGeom prst="rect">
            <a:avLst/>
          </a:prstGeom>
          <a:solidFill>
            <a:srgbClr val="0A1628"/>
          </a:solidFill>
          <a:ln w="12700">
            <a:solidFill>
              <a:srgbClr val="0A1628"/>
            </a:solidFill>
            <a:prstDash val="solid"/>
          </a:ln>
        </p:spPr>
        <p:txBody>
          <a:bodyPr/>
          <a:p/>
        </p:txBody>
      </p:sp>
      <p:pic>
        <p:nvPicPr>
          <p:cNvPr id="6" name="Image 0" descr="preencoded.png">    </p:cNvPr>
          <p:cNvPicPr>
            <a:picLocks noChangeAspect="1"/>
          </p:cNvPicPr>
          <p:nvPr/>
        </p:nvPicPr>
        <p:blipFill>
          <a:blip r:embed="rId1"/>
          <a:stretch>
            <a:fillRect/>
          </a:stretch>
        </p:blipFill>
        <p:spPr>
          <a:xfrm>
            <a:off x="457200" y="914400"/>
            <a:ext cx="457200" cy="457200"/>
          </a:xfrm>
          <a:prstGeom prst="rect">
            <a:avLst/>
          </a:prstGeom>
        </p:spPr>
      </p:pic>
      <p:sp>
        <p:nvSpPr>
          <p:cNvPr id="7" name="Text 4"/>
          <p:cNvSpPr/>
          <p:nvPr/>
        </p:nvSpPr>
        <p:spPr>
          <a:xfrm>
            <a:off x="1005840" y="932688"/>
            <a:ext cx="3291840" cy="384048"/>
          </a:xfrm>
          <a:prstGeom prst="rect">
            <a:avLst/>
          </a:prstGeom>
          <a:noFill/>
          <a:ln/>
        </p:spPr>
        <p:txBody>
          <a:bodyPr wrap="square" rtlCol="0" anchor="ctr"/>
          <a:lstStyle/>
          <a:p>
            <a:pPr indent="0" marL="0">
              <a:buNone/>
            </a:pPr>
            <a:r>
              <a:rPr lang="en-US" sz="1300" b="1" dirty="0">
                <a:solidFill>
                  <a:srgbClr val="E8C96B"/>
                </a:solidFill>
              </a:rPr>
              <a:t>GRO Score™ — The Competitive Edge</a:t>
            </a:r>
            <a:endParaRPr lang="en-US" sz="1300" dirty="0"/>
          </a:p>
        </p:txBody>
      </p:sp>
      <p:sp>
        <p:nvSpPr>
          <p:cNvPr id="8" name="Shape 5"/>
          <p:cNvSpPr/>
          <p:nvPr/>
        </p:nvSpPr>
        <p:spPr>
          <a:xfrm>
            <a:off x="457200" y="1389888"/>
            <a:ext cx="3840480" cy="36576"/>
          </a:xfrm>
          <a:prstGeom prst="rect">
            <a:avLst/>
          </a:prstGeom>
          <a:solidFill>
            <a:srgbClr val="C9A84C">
              <a:alpha val="40000"/>
            </a:srgbClr>
          </a:solidFill>
          <a:ln w="12700">
            <a:solidFill>
              <a:srgbClr val="C9A84C">
                <a:alpha val="40000"/>
              </a:srgbClr>
            </a:solidFill>
            <a:prstDash val="solid"/>
          </a:ln>
        </p:spPr>
        <p:txBody>
          <a:bodyPr/>
          <a:p/>
        </p:txBody>
      </p:sp>
      <p:sp>
        <p:nvSpPr>
          <p:cNvPr id="9" name="Text 6"/>
          <p:cNvSpPr/>
          <p:nvPr/>
        </p:nvSpPr>
        <p:spPr>
          <a:xfrm>
            <a:off x="457200" y="1508760"/>
            <a:ext cx="3840480" cy="3108960"/>
          </a:xfrm>
          <a:prstGeom prst="rect">
            <a:avLst/>
          </a:prstGeom>
          <a:noFill/>
          <a:ln/>
        </p:spPr>
        <p:txBody>
          <a:bodyPr wrap="square" rtlCol="0" anchor="ctr"/>
          <a:lstStyle/>
          <a:p>
            <a:pPr marL="342900" indent="-342900">
              <a:spcAft>
                <a:spcPts val="500"/>
              </a:spcAft>
              <a:buSzPct val="100000"/>
              <a:buChar char="•"/>
            </a:pPr>
            <a:r>
              <a:rPr lang="en-US" sz="1000" dirty="0">
                <a:solidFill>
                  <a:srgbClr val="D0DCF0"/>
                </a:solidFill>
              </a:rPr>
              <a:t>Patented ML credit-scoring model — launched 2022, now v3.0</a:t>
            </a:r>
            <a:endParaRPr lang="en-US" sz="1000" dirty="0"/>
          </a:p>
          <a:p>
            <a:pPr marL="342900" indent="-342900">
              <a:spcAft>
                <a:spcPts val="500"/>
              </a:spcAft>
              <a:buSzPct val="100000"/>
              <a:buChar char="•"/>
            </a:pPr>
            <a:r>
              <a:rPr lang="en-US" sz="1000" dirty="0">
                <a:solidFill>
                  <a:srgbClr val="D0DCF0"/>
                </a:solidFill>
              </a:rPr>
              <a:t>Ingests 10,000+ data points: GST cashflows, banking transactions, bureau, psychometric &amp; alternate data</a:t>
            </a:r>
            <a:endParaRPr lang="en-US" sz="1000" dirty="0"/>
          </a:p>
          <a:p>
            <a:pPr marL="342900" indent="-342900">
              <a:spcAft>
                <a:spcPts val="500"/>
              </a:spcAft>
              <a:buSzPct val="100000"/>
              <a:buChar char="•"/>
            </a:pPr>
            <a:r>
              <a:rPr lang="en-US" sz="1000" dirty="0">
                <a:solidFill>
                  <a:srgbClr val="D0DCF0"/>
                </a:solidFill>
              </a:rPr>
              <a:t>1.7 lakh+ loan applications already scored — growing moat</a:t>
            </a:r>
            <a:endParaRPr lang="en-US" sz="1000" dirty="0"/>
          </a:p>
          <a:p>
            <a:pPr marL="342900" indent="-342900">
              <a:spcAft>
                <a:spcPts val="500"/>
              </a:spcAft>
              <a:buSzPct val="100000"/>
              <a:buChar char="•"/>
            </a:pPr>
            <a:r>
              <a:rPr lang="en-US" sz="1000" dirty="0">
                <a:solidFill>
                  <a:srgbClr val="D0DCF0"/>
                </a:solidFill>
              </a:rPr>
              <a:t>Enables loan approvals in under 48 hours — EM secured loans</a:t>
            </a:r>
            <a:endParaRPr lang="en-US" sz="1000" dirty="0"/>
          </a:p>
          <a:p>
            <a:pPr marL="342900" indent="-342900">
              <a:spcAft>
                <a:spcPts val="500"/>
              </a:spcAft>
              <a:buSzPct val="100000"/>
              <a:buChar char="•"/>
            </a:pPr>
            <a:r>
              <a:rPr lang="en-US" sz="1000" dirty="0">
                <a:solidFill>
                  <a:srgbClr val="D0DCF0"/>
                </a:solidFill>
              </a:rPr>
              <a:t>GNPA on EM-secured loans: 3.7–4% (well-controlled)</a:t>
            </a:r>
            <a:endParaRPr lang="en-US" sz="1000" dirty="0"/>
          </a:p>
          <a:p>
            <a:pPr marL="342900" indent="-342900">
              <a:spcAft>
                <a:spcPts val="500"/>
              </a:spcAft>
              <a:buSzPct val="100000"/>
              <a:buChar char="•"/>
            </a:pPr>
            <a:r>
              <a:rPr lang="en-US" sz="1000" dirty="0">
                <a:solidFill>
                  <a:srgbClr val="D0DCF0"/>
                </a:solidFill>
              </a:rPr>
              <a:t>Proprietary data flywheel: MSL transactions enrich GRO Score™</a:t>
            </a:r>
            <a:endParaRPr lang="en-US" sz="1000" dirty="0"/>
          </a:p>
          <a:p>
            <a:pPr marL="342900" indent="-342900">
              <a:spcAft>
                <a:spcPts val="500"/>
              </a:spcAft>
              <a:buSzPct val="100000"/>
              <a:buChar char="•"/>
            </a:pPr>
            <a:r>
              <a:rPr lang="en-US" sz="1000" dirty="0">
                <a:solidFill>
                  <a:srgbClr val="D0DCF0"/>
                </a:solidFill>
              </a:rPr>
              <a:t>No comparable patented underwriting model in MSME NBFC space</a:t>
            </a:r>
            <a:endParaRPr lang="en-US" sz="1000" dirty="0"/>
          </a:p>
        </p:txBody>
      </p:sp>
      <p:sp>
        <p:nvSpPr>
          <p:cNvPr id="10" name="Text 7"/>
          <p:cNvSpPr/>
          <p:nvPr/>
        </p:nvSpPr>
        <p:spPr>
          <a:xfrm>
            <a:off x="4754880" y="822960"/>
            <a:ext cx="4114800" cy="329184"/>
          </a:xfrm>
          <a:prstGeom prst="rect">
            <a:avLst/>
          </a:prstGeom>
          <a:noFill/>
          <a:ln/>
        </p:spPr>
        <p:txBody>
          <a:bodyPr wrap="square" rtlCol="0" anchor="ctr"/>
          <a:lstStyle/>
          <a:p>
            <a:pPr indent="0" marL="0">
              <a:buNone/>
            </a:pPr>
            <a:r>
              <a:rPr lang="en-US" sz="1300" b="1" dirty="0">
                <a:solidFill>
                  <a:srgbClr val="0A1628"/>
                </a:solidFill>
              </a:rPr>
              <a:t>Multi-Channel Distribution Advantage</a:t>
            </a:r>
            <a:endParaRPr lang="en-US" sz="1300" dirty="0"/>
          </a:p>
        </p:txBody>
      </p:sp>
      <p:sp>
        <p:nvSpPr>
          <p:cNvPr id="11" name="Shape 8"/>
          <p:cNvSpPr/>
          <p:nvPr/>
        </p:nvSpPr>
        <p:spPr>
          <a:xfrm>
            <a:off x="4754880" y="1261872"/>
            <a:ext cx="4114800" cy="749808"/>
          </a:xfrm>
          <a:prstGeom prst="rect">
            <a:avLst/>
          </a:prstGeom>
          <a:solidFill>
            <a:srgbClr val="F0F4F8"/>
          </a:solidFill>
          <a:ln w="12700">
            <a:solidFill>
              <a:srgbClr val="F0F4F8"/>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864608" y="1426464"/>
            <a:ext cx="347472" cy="347472"/>
          </a:xfrm>
          <a:prstGeom prst="rect">
            <a:avLst/>
          </a:prstGeom>
        </p:spPr>
      </p:pic>
      <p:sp>
        <p:nvSpPr>
          <p:cNvPr id="13" name="Text 9"/>
          <p:cNvSpPr/>
          <p:nvPr/>
        </p:nvSpPr>
        <p:spPr>
          <a:xfrm>
            <a:off x="5321808" y="1298448"/>
            <a:ext cx="3401568" cy="256032"/>
          </a:xfrm>
          <a:prstGeom prst="rect">
            <a:avLst/>
          </a:prstGeom>
          <a:noFill/>
          <a:ln/>
        </p:spPr>
        <p:txBody>
          <a:bodyPr wrap="square" rtlCol="0" anchor="ctr"/>
          <a:lstStyle/>
          <a:p>
            <a:pPr indent="0" marL="0">
              <a:buNone/>
            </a:pPr>
            <a:r>
              <a:rPr lang="en-US" sz="1100" b="1" dirty="0">
                <a:solidFill>
                  <a:srgbClr val="0A1628"/>
                </a:solidFill>
              </a:rPr>
              <a:t>Co-Lending (44% AUM off-book)</a:t>
            </a:r>
            <a:endParaRPr lang="en-US" sz="1100" dirty="0"/>
          </a:p>
        </p:txBody>
      </p:sp>
      <p:sp>
        <p:nvSpPr>
          <p:cNvPr id="14" name="Text 10"/>
          <p:cNvSpPr/>
          <p:nvPr/>
        </p:nvSpPr>
        <p:spPr>
          <a:xfrm>
            <a:off x="5321808" y="1591056"/>
            <a:ext cx="3401568" cy="347472"/>
          </a:xfrm>
          <a:prstGeom prst="rect">
            <a:avLst/>
          </a:prstGeom>
          <a:noFill/>
          <a:ln/>
        </p:spPr>
        <p:txBody>
          <a:bodyPr wrap="square" rtlCol="0" anchor="ctr"/>
          <a:lstStyle/>
          <a:p>
            <a:pPr indent="0" marL="0">
              <a:buNone/>
            </a:pPr>
            <a:r>
              <a:rPr lang="en-US" sz="900" dirty="0">
                <a:solidFill>
                  <a:srgbClr val="1A3567"/>
                </a:solidFill>
              </a:rPr>
              <a:t>17 partner banks &amp; NBFCs. Capital-efficient model enabling competitive pricing for borrowers while preserving UGRO's spread.</a:t>
            </a:r>
            <a:endParaRPr lang="en-US" sz="900" dirty="0"/>
          </a:p>
        </p:txBody>
      </p:sp>
      <p:sp>
        <p:nvSpPr>
          <p:cNvPr id="15" name="Shape 11"/>
          <p:cNvSpPr/>
          <p:nvPr/>
        </p:nvSpPr>
        <p:spPr>
          <a:xfrm>
            <a:off x="4754880" y="2121408"/>
            <a:ext cx="4114800" cy="749808"/>
          </a:xfrm>
          <a:prstGeom prst="rect">
            <a:avLst/>
          </a:prstGeom>
          <a:solidFill>
            <a:srgbClr val="F0F4F8"/>
          </a:solidFill>
          <a:ln w="12700">
            <a:solidFill>
              <a:srgbClr val="F0F4F8"/>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864608" y="2286000"/>
            <a:ext cx="347472" cy="347472"/>
          </a:xfrm>
          <a:prstGeom prst="rect">
            <a:avLst/>
          </a:prstGeom>
        </p:spPr>
      </p:pic>
      <p:sp>
        <p:nvSpPr>
          <p:cNvPr id="17" name="Text 12"/>
          <p:cNvSpPr/>
          <p:nvPr/>
        </p:nvSpPr>
        <p:spPr>
          <a:xfrm>
            <a:off x="5321808" y="2157984"/>
            <a:ext cx="3401568" cy="256032"/>
          </a:xfrm>
          <a:prstGeom prst="rect">
            <a:avLst/>
          </a:prstGeom>
          <a:noFill/>
          <a:ln/>
        </p:spPr>
        <p:txBody>
          <a:bodyPr wrap="square" rtlCol="0" anchor="ctr"/>
          <a:lstStyle/>
          <a:p>
            <a:pPr indent="0" marL="0">
              <a:buNone/>
            </a:pPr>
            <a:r>
              <a:rPr lang="en-US" sz="1100" b="1" dirty="0">
                <a:solidFill>
                  <a:srgbClr val="0A1628"/>
                </a:solidFill>
              </a:rPr>
              <a:t>Emerging Markets Network</a:t>
            </a:r>
            <a:endParaRPr lang="en-US" sz="1100" dirty="0"/>
          </a:p>
        </p:txBody>
      </p:sp>
      <p:sp>
        <p:nvSpPr>
          <p:cNvPr id="18" name="Text 13"/>
          <p:cNvSpPr/>
          <p:nvPr/>
        </p:nvSpPr>
        <p:spPr>
          <a:xfrm>
            <a:off x="5321808" y="2450592"/>
            <a:ext cx="3401568" cy="347472"/>
          </a:xfrm>
          <a:prstGeom prst="rect">
            <a:avLst/>
          </a:prstGeom>
          <a:noFill/>
          <a:ln/>
        </p:spPr>
        <p:txBody>
          <a:bodyPr wrap="square" rtlCol="0" anchor="ctr"/>
          <a:lstStyle/>
          <a:p>
            <a:pPr indent="0" marL="0">
              <a:buNone/>
            </a:pPr>
            <a:r>
              <a:rPr lang="en-US" sz="900" dirty="0">
                <a:solidFill>
                  <a:srgbClr val="1A3567"/>
                </a:solidFill>
              </a:rPr>
              <a:t>201 EM branches across Tier 2–5 towns. ~3x growth in EM disbursements YoY. Target: 400 branches, 32–35% of AUM by FY26.</a:t>
            </a:r>
            <a:endParaRPr lang="en-US" sz="900" dirty="0"/>
          </a:p>
        </p:txBody>
      </p:sp>
      <p:sp>
        <p:nvSpPr>
          <p:cNvPr id="19" name="Shape 14"/>
          <p:cNvSpPr/>
          <p:nvPr/>
        </p:nvSpPr>
        <p:spPr>
          <a:xfrm>
            <a:off x="4754880" y="2980944"/>
            <a:ext cx="4114800" cy="749808"/>
          </a:xfrm>
          <a:prstGeom prst="rect">
            <a:avLst/>
          </a:prstGeom>
          <a:solidFill>
            <a:srgbClr val="F0F4F8"/>
          </a:solidFill>
          <a:ln w="12700">
            <a:solidFill>
              <a:srgbClr val="F0F4F8"/>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4864608" y="3145536"/>
            <a:ext cx="347472" cy="347472"/>
          </a:xfrm>
          <a:prstGeom prst="rect">
            <a:avLst/>
          </a:prstGeom>
        </p:spPr>
      </p:pic>
      <p:sp>
        <p:nvSpPr>
          <p:cNvPr id="21" name="Text 15"/>
          <p:cNvSpPr/>
          <p:nvPr/>
        </p:nvSpPr>
        <p:spPr>
          <a:xfrm>
            <a:off x="5321808" y="3017520"/>
            <a:ext cx="3401568" cy="256032"/>
          </a:xfrm>
          <a:prstGeom prst="rect">
            <a:avLst/>
          </a:prstGeom>
          <a:noFill/>
          <a:ln/>
        </p:spPr>
        <p:txBody>
          <a:bodyPr wrap="square" rtlCol="0" anchor="ctr"/>
          <a:lstStyle/>
          <a:p>
            <a:pPr indent="0" marL="0">
              <a:buNone/>
            </a:pPr>
            <a:r>
              <a:rPr lang="en-US" sz="1100" b="1" dirty="0">
                <a:solidFill>
                  <a:srgbClr val="0A1628"/>
                </a:solidFill>
              </a:rPr>
              <a:t>MSL — Embedded Finance Engine</a:t>
            </a:r>
            <a:endParaRPr lang="en-US" sz="1100" dirty="0"/>
          </a:p>
        </p:txBody>
      </p:sp>
      <p:sp>
        <p:nvSpPr>
          <p:cNvPr id="22" name="Text 16"/>
          <p:cNvSpPr/>
          <p:nvPr/>
        </p:nvSpPr>
        <p:spPr>
          <a:xfrm>
            <a:off x="5321808" y="3310128"/>
            <a:ext cx="3401568" cy="347472"/>
          </a:xfrm>
          <a:prstGeom prst="rect">
            <a:avLst/>
          </a:prstGeom>
          <a:noFill/>
          <a:ln/>
        </p:spPr>
        <p:txBody>
          <a:bodyPr wrap="square" rtlCol="0" anchor="ctr"/>
          <a:lstStyle/>
          <a:p>
            <a:pPr indent="0" marL="0">
              <a:buNone/>
            </a:pPr>
            <a:r>
              <a:rPr lang="en-US" sz="900" dirty="0">
                <a:solidFill>
                  <a:srgbClr val="1A3567"/>
                </a:solidFill>
              </a:rPr>
              <a:t>Digital subsidiary with ₹743 Cr AUM. ~₹650 Cr Q4 disbursements alone. API-first, embedded in OEM/anchor ecosystems.</a:t>
            </a:r>
            <a:endParaRPr lang="en-US" sz="900" dirty="0"/>
          </a:p>
        </p:txBody>
      </p:sp>
      <p:sp>
        <p:nvSpPr>
          <p:cNvPr id="23" name="Shape 17"/>
          <p:cNvSpPr/>
          <p:nvPr/>
        </p:nvSpPr>
        <p:spPr>
          <a:xfrm>
            <a:off x="4754880" y="3840480"/>
            <a:ext cx="4114800" cy="749808"/>
          </a:xfrm>
          <a:prstGeom prst="rect">
            <a:avLst/>
          </a:prstGeom>
          <a:solidFill>
            <a:srgbClr val="F0F4F8"/>
          </a:solidFill>
          <a:ln w="12700">
            <a:solidFill>
              <a:srgbClr val="F0F4F8"/>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4864608" y="4005072"/>
            <a:ext cx="347472" cy="347472"/>
          </a:xfrm>
          <a:prstGeom prst="rect">
            <a:avLst/>
          </a:prstGeom>
        </p:spPr>
      </p:pic>
      <p:sp>
        <p:nvSpPr>
          <p:cNvPr id="25" name="Text 18"/>
          <p:cNvSpPr/>
          <p:nvPr/>
        </p:nvSpPr>
        <p:spPr>
          <a:xfrm>
            <a:off x="5321808" y="3877056"/>
            <a:ext cx="3401568" cy="256032"/>
          </a:xfrm>
          <a:prstGeom prst="rect">
            <a:avLst/>
          </a:prstGeom>
          <a:noFill/>
          <a:ln/>
        </p:spPr>
        <p:txBody>
          <a:bodyPr wrap="square" rtlCol="0" anchor="ctr"/>
          <a:lstStyle/>
          <a:p>
            <a:pPr indent="0" marL="0">
              <a:buNone/>
            </a:pPr>
            <a:r>
              <a:rPr lang="en-US" sz="1100" b="1" dirty="0">
                <a:solidFill>
                  <a:srgbClr val="0A1628"/>
                </a:solidFill>
              </a:rPr>
              <a:t>IND A+ Rating Upgrade</a:t>
            </a:r>
            <a:endParaRPr lang="en-US" sz="1100" dirty="0"/>
          </a:p>
        </p:txBody>
      </p:sp>
      <p:sp>
        <p:nvSpPr>
          <p:cNvPr id="26" name="Text 19"/>
          <p:cNvSpPr/>
          <p:nvPr/>
        </p:nvSpPr>
        <p:spPr>
          <a:xfrm>
            <a:off x="5321808" y="4169664"/>
            <a:ext cx="3401568" cy="347472"/>
          </a:xfrm>
          <a:prstGeom prst="rect">
            <a:avLst/>
          </a:prstGeom>
          <a:noFill/>
          <a:ln/>
        </p:spPr>
        <p:txBody>
          <a:bodyPr wrap="square" rtlCol="0" anchor="ctr"/>
          <a:lstStyle/>
          <a:p>
            <a:pPr indent="0" marL="0">
              <a:buNone/>
            </a:pPr>
            <a:r>
              <a:rPr lang="en-US" sz="900" dirty="0">
                <a:solidFill>
                  <a:srgbClr val="1A3567"/>
                </a:solidFill>
              </a:rPr>
              <a:t>₹1,100 Cr debentures + ₹2,600 Cr bank loans rated IND A+. Signals improving cost of funds trajectory and institutional confidence.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05  |  MARKET OPPORTUNITY</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74320" y="822960"/>
            <a:ext cx="8595360" cy="1280160"/>
          </a:xfrm>
          <a:prstGeom prst="rect">
            <a:avLst/>
          </a:prstGeom>
          <a:solidFill>
            <a:srgbClr val="0A1628"/>
          </a:solidFill>
          <a:ln w="12700">
            <a:solidFill>
              <a:srgbClr val="0A1628"/>
            </a:solidFill>
            <a:prstDash val="solid"/>
          </a:ln>
        </p:spPr>
        <p:txBody>
          <a:bodyPr/>
          <a:p/>
        </p:txBody>
      </p:sp>
      <p:sp>
        <p:nvSpPr>
          <p:cNvPr id="6" name="Text 4"/>
          <p:cNvSpPr/>
          <p:nvPr/>
        </p:nvSpPr>
        <p:spPr>
          <a:xfrm>
            <a:off x="365760" y="896112"/>
            <a:ext cx="4114800" cy="685800"/>
          </a:xfrm>
          <a:prstGeom prst="rect">
            <a:avLst/>
          </a:prstGeom>
          <a:noFill/>
          <a:ln/>
        </p:spPr>
        <p:txBody>
          <a:bodyPr wrap="square" rtlCol="0" anchor="ctr"/>
          <a:lstStyle/>
          <a:p>
            <a:pPr indent="0" marL="0">
              <a:buNone/>
            </a:pPr>
            <a:r>
              <a:rPr lang="en-US" sz="4800" b="1" dirty="0">
                <a:solidFill>
                  <a:srgbClr val="C9A84C"/>
                </a:solidFill>
                <a:latin typeface="Georgia" pitchFamily="34" charset="0"/>
                <a:ea typeface="Georgia" pitchFamily="34" charset="-122"/>
                <a:cs typeface="Georgia" pitchFamily="34" charset="-120"/>
              </a:rPr>
              <a:t>₹103 Trillion</a:t>
            </a:r>
            <a:endParaRPr lang="en-US" sz="4800" dirty="0"/>
          </a:p>
        </p:txBody>
      </p:sp>
      <p:sp>
        <p:nvSpPr>
          <p:cNvPr id="7" name="Text 5"/>
          <p:cNvSpPr/>
          <p:nvPr/>
        </p:nvSpPr>
        <p:spPr>
          <a:xfrm>
            <a:off x="4480560" y="914400"/>
            <a:ext cx="4114800" cy="1005840"/>
          </a:xfrm>
          <a:prstGeom prst="rect">
            <a:avLst/>
          </a:prstGeom>
          <a:noFill/>
          <a:ln/>
        </p:spPr>
        <p:txBody>
          <a:bodyPr wrap="square" rtlCol="0" anchor="ctr"/>
          <a:lstStyle/>
          <a:p>
            <a:pPr indent="0" marL="0">
              <a:buNone/>
            </a:pPr>
            <a:r>
              <a:rPr lang="en-US" sz="1400" i="1" dirty="0">
                <a:solidFill>
                  <a:srgbClr val="FFFFFF"/>
                </a:solidFill>
              </a:rPr>
              <a:t>India's MSME Formal Credit Gap — The Single Largest Lending Opportunity in Asia</a:t>
            </a:r>
            <a:endParaRPr lang="en-US" sz="1400" dirty="0"/>
          </a:p>
        </p:txBody>
      </p:sp>
      <p:sp>
        <p:nvSpPr>
          <p:cNvPr id="8" name="Shape 6"/>
          <p:cNvSpPr/>
          <p:nvPr/>
        </p:nvSpPr>
        <p:spPr>
          <a:xfrm>
            <a:off x="274320" y="2267712"/>
            <a:ext cx="2743200" cy="1417320"/>
          </a:xfrm>
          <a:prstGeom prst="rect">
            <a:avLst/>
          </a:prstGeom>
          <a:solidFill>
            <a:srgbClr val="FFFFFF"/>
          </a:solidFill>
          <a:ln w="12700">
            <a:solidFill>
              <a:srgbClr val="FFFFFF"/>
            </a:solidFill>
            <a:prstDash val="solid"/>
          </a:ln>
        </p:spPr>
        <p:txBody>
          <a:bodyPr/>
          <a:p/>
        </p:txBody>
      </p:sp>
      <p:sp>
        <p:nvSpPr>
          <p:cNvPr id="9" name="Text 7"/>
          <p:cNvSpPr/>
          <p:nvPr/>
        </p:nvSpPr>
        <p:spPr>
          <a:xfrm>
            <a:off x="274320" y="2331720"/>
            <a:ext cx="2743200" cy="502920"/>
          </a:xfrm>
          <a:prstGeom prst="rect">
            <a:avLst/>
          </a:prstGeom>
          <a:noFill/>
          <a:ln/>
        </p:spPr>
        <p:txBody>
          <a:bodyPr wrap="square" rtlCol="0" anchor="ctr"/>
          <a:lstStyle/>
          <a:p>
            <a:pPr algn="ctr" indent="0" marL="0">
              <a:buNone/>
            </a:pPr>
            <a:r>
              <a:rPr lang="en-US" sz="2600" b="1" dirty="0">
                <a:solidFill>
                  <a:srgbClr val="1A3567"/>
                </a:solidFill>
                <a:latin typeface="Georgia" pitchFamily="34" charset="0"/>
                <a:ea typeface="Georgia" pitchFamily="34" charset="-122"/>
                <a:cs typeface="Georgia" pitchFamily="34" charset="-120"/>
              </a:rPr>
              <a:t>63 Million</a:t>
            </a:r>
            <a:endParaRPr lang="en-US" sz="2600" dirty="0"/>
          </a:p>
        </p:txBody>
      </p:sp>
      <p:sp>
        <p:nvSpPr>
          <p:cNvPr id="10" name="Text 8"/>
          <p:cNvSpPr/>
          <p:nvPr/>
        </p:nvSpPr>
        <p:spPr>
          <a:xfrm>
            <a:off x="274320" y="2834640"/>
            <a:ext cx="2743200" cy="256032"/>
          </a:xfrm>
          <a:prstGeom prst="rect">
            <a:avLst/>
          </a:prstGeom>
          <a:noFill/>
          <a:ln/>
        </p:spPr>
        <p:txBody>
          <a:bodyPr wrap="square" rtlCol="0" anchor="ctr"/>
          <a:lstStyle/>
          <a:p>
            <a:pPr algn="ctr" indent="0" marL="0">
              <a:buNone/>
            </a:pPr>
            <a:r>
              <a:rPr lang="en-US" sz="1100" b="1" dirty="0">
                <a:solidFill>
                  <a:srgbClr val="0A1628"/>
                </a:solidFill>
              </a:rPr>
              <a:t>MSMEs in India</a:t>
            </a:r>
            <a:endParaRPr lang="en-US" sz="1100" dirty="0"/>
          </a:p>
        </p:txBody>
      </p:sp>
      <p:sp>
        <p:nvSpPr>
          <p:cNvPr id="11" name="Text 9"/>
          <p:cNvSpPr/>
          <p:nvPr/>
        </p:nvSpPr>
        <p:spPr>
          <a:xfrm>
            <a:off x="411480" y="3108960"/>
            <a:ext cx="2468880" cy="457200"/>
          </a:xfrm>
          <a:prstGeom prst="rect">
            <a:avLst/>
          </a:prstGeom>
          <a:noFill/>
          <a:ln/>
        </p:spPr>
        <p:txBody>
          <a:bodyPr wrap="square" rtlCol="0" anchor="ctr"/>
          <a:lstStyle/>
          <a:p>
            <a:pPr algn="ctr" indent="0" marL="0">
              <a:buNone/>
            </a:pPr>
            <a:r>
              <a:rPr lang="en-US" sz="950" dirty="0">
                <a:solidFill>
                  <a:srgbClr val="8899AA"/>
                </a:solidFill>
              </a:rPr>
              <a:t>Only ~25M access formal credit — 60% addressable gap</a:t>
            </a:r>
            <a:endParaRPr lang="en-US" sz="950" dirty="0"/>
          </a:p>
        </p:txBody>
      </p:sp>
      <p:sp>
        <p:nvSpPr>
          <p:cNvPr id="12" name="Shape 10"/>
          <p:cNvSpPr/>
          <p:nvPr/>
        </p:nvSpPr>
        <p:spPr>
          <a:xfrm>
            <a:off x="3200400" y="2267712"/>
            <a:ext cx="2743200" cy="1417320"/>
          </a:xfrm>
          <a:prstGeom prst="rect">
            <a:avLst/>
          </a:prstGeom>
          <a:solidFill>
            <a:srgbClr val="FFFFFF"/>
          </a:solidFill>
          <a:ln w="12700">
            <a:solidFill>
              <a:srgbClr val="FFFFFF"/>
            </a:solidFill>
            <a:prstDash val="solid"/>
          </a:ln>
        </p:spPr>
        <p:txBody>
          <a:bodyPr/>
          <a:p/>
        </p:txBody>
      </p:sp>
      <p:sp>
        <p:nvSpPr>
          <p:cNvPr id="13" name="Text 11"/>
          <p:cNvSpPr/>
          <p:nvPr/>
        </p:nvSpPr>
        <p:spPr>
          <a:xfrm>
            <a:off x="3200400" y="2331720"/>
            <a:ext cx="2743200" cy="502920"/>
          </a:xfrm>
          <a:prstGeom prst="rect">
            <a:avLst/>
          </a:prstGeom>
          <a:noFill/>
          <a:ln/>
        </p:spPr>
        <p:txBody>
          <a:bodyPr wrap="square" rtlCol="0" anchor="ctr"/>
          <a:lstStyle/>
          <a:p>
            <a:pPr algn="ctr" indent="0" marL="0">
              <a:buNone/>
            </a:pPr>
            <a:r>
              <a:rPr lang="en-US" sz="2600" b="1" dirty="0">
                <a:solidFill>
                  <a:srgbClr val="1A3567"/>
                </a:solidFill>
                <a:latin typeface="Georgia" pitchFamily="34" charset="0"/>
                <a:ea typeface="Georgia" pitchFamily="34" charset="-122"/>
                <a:cs typeface="Georgia" pitchFamily="34" charset="-120"/>
              </a:rPr>
              <a:t>30% of GDP</a:t>
            </a:r>
            <a:endParaRPr lang="en-US" sz="2600" dirty="0"/>
          </a:p>
        </p:txBody>
      </p:sp>
      <p:sp>
        <p:nvSpPr>
          <p:cNvPr id="14" name="Text 12"/>
          <p:cNvSpPr/>
          <p:nvPr/>
        </p:nvSpPr>
        <p:spPr>
          <a:xfrm>
            <a:off x="3200400" y="2834640"/>
            <a:ext cx="2743200" cy="256032"/>
          </a:xfrm>
          <a:prstGeom prst="rect">
            <a:avLst/>
          </a:prstGeom>
          <a:noFill/>
          <a:ln/>
        </p:spPr>
        <p:txBody>
          <a:bodyPr wrap="square" rtlCol="0" anchor="ctr"/>
          <a:lstStyle/>
          <a:p>
            <a:pPr algn="ctr" indent="0" marL="0">
              <a:buNone/>
            </a:pPr>
            <a:r>
              <a:rPr lang="en-US" sz="1100" b="1" dirty="0">
                <a:solidFill>
                  <a:srgbClr val="0A1628"/>
                </a:solidFill>
              </a:rPr>
              <a:t>MSME Contribution</a:t>
            </a:r>
            <a:endParaRPr lang="en-US" sz="1100" dirty="0"/>
          </a:p>
        </p:txBody>
      </p:sp>
      <p:sp>
        <p:nvSpPr>
          <p:cNvPr id="15" name="Text 13"/>
          <p:cNvSpPr/>
          <p:nvPr/>
        </p:nvSpPr>
        <p:spPr>
          <a:xfrm>
            <a:off x="3337560" y="3108960"/>
            <a:ext cx="2468880" cy="457200"/>
          </a:xfrm>
          <a:prstGeom prst="rect">
            <a:avLst/>
          </a:prstGeom>
          <a:noFill/>
          <a:ln/>
        </p:spPr>
        <p:txBody>
          <a:bodyPr wrap="square" rtlCol="0" anchor="ctr"/>
          <a:lstStyle/>
          <a:p>
            <a:pPr algn="ctr" indent="0" marL="0">
              <a:buNone/>
            </a:pPr>
            <a:r>
              <a:rPr lang="en-US" sz="950" dirty="0">
                <a:solidFill>
                  <a:srgbClr val="8899AA"/>
                </a:solidFill>
              </a:rPr>
              <a:t>Govt. target: raise to 50% by 2030 — massive headroom</a:t>
            </a:r>
            <a:endParaRPr lang="en-US" sz="950" dirty="0"/>
          </a:p>
        </p:txBody>
      </p:sp>
      <p:sp>
        <p:nvSpPr>
          <p:cNvPr id="16" name="Shape 14"/>
          <p:cNvSpPr/>
          <p:nvPr/>
        </p:nvSpPr>
        <p:spPr>
          <a:xfrm>
            <a:off x="6126480" y="2267712"/>
            <a:ext cx="2743200" cy="1417320"/>
          </a:xfrm>
          <a:prstGeom prst="rect">
            <a:avLst/>
          </a:prstGeom>
          <a:solidFill>
            <a:srgbClr val="FFFFFF"/>
          </a:solidFill>
          <a:ln w="12700">
            <a:solidFill>
              <a:srgbClr val="FFFFFF"/>
            </a:solidFill>
            <a:prstDash val="solid"/>
          </a:ln>
        </p:spPr>
        <p:txBody>
          <a:bodyPr/>
          <a:p/>
        </p:txBody>
      </p:sp>
      <p:sp>
        <p:nvSpPr>
          <p:cNvPr id="17" name="Text 15"/>
          <p:cNvSpPr/>
          <p:nvPr/>
        </p:nvSpPr>
        <p:spPr>
          <a:xfrm>
            <a:off x="6126480" y="2331720"/>
            <a:ext cx="2743200" cy="502920"/>
          </a:xfrm>
          <a:prstGeom prst="rect">
            <a:avLst/>
          </a:prstGeom>
          <a:noFill/>
          <a:ln/>
        </p:spPr>
        <p:txBody>
          <a:bodyPr wrap="square" rtlCol="0" anchor="ctr"/>
          <a:lstStyle/>
          <a:p>
            <a:pPr algn="ctr" indent="0" marL="0">
              <a:buNone/>
            </a:pPr>
            <a:r>
              <a:rPr lang="en-US" sz="2600" b="1" dirty="0">
                <a:solidFill>
                  <a:srgbClr val="1A3567"/>
                </a:solidFill>
                <a:latin typeface="Georgia" pitchFamily="34" charset="0"/>
                <a:ea typeface="Georgia" pitchFamily="34" charset="-122"/>
                <a:cs typeface="Georgia" pitchFamily="34" charset="-120"/>
              </a:rPr>
              <a:t>25%</a:t>
            </a:r>
            <a:endParaRPr lang="en-US" sz="2600" dirty="0"/>
          </a:p>
        </p:txBody>
      </p:sp>
      <p:sp>
        <p:nvSpPr>
          <p:cNvPr id="18" name="Text 16"/>
          <p:cNvSpPr/>
          <p:nvPr/>
        </p:nvSpPr>
        <p:spPr>
          <a:xfrm>
            <a:off x="6126480" y="2834640"/>
            <a:ext cx="2743200" cy="256032"/>
          </a:xfrm>
          <a:prstGeom prst="rect">
            <a:avLst/>
          </a:prstGeom>
          <a:noFill/>
          <a:ln/>
        </p:spPr>
        <p:txBody>
          <a:bodyPr wrap="square" rtlCol="0" anchor="ctr"/>
          <a:lstStyle/>
          <a:p>
            <a:pPr algn="ctr" indent="0" marL="0">
              <a:buNone/>
            </a:pPr>
            <a:r>
              <a:rPr lang="en-US" sz="1100" b="1" dirty="0">
                <a:solidFill>
                  <a:srgbClr val="0A1628"/>
                </a:solidFill>
              </a:rPr>
              <a:t>Credit Penetration</a:t>
            </a:r>
            <a:endParaRPr lang="en-US" sz="1100" dirty="0"/>
          </a:p>
        </p:txBody>
      </p:sp>
      <p:sp>
        <p:nvSpPr>
          <p:cNvPr id="19" name="Text 17"/>
          <p:cNvSpPr/>
          <p:nvPr/>
        </p:nvSpPr>
        <p:spPr>
          <a:xfrm>
            <a:off x="6263640" y="3108960"/>
            <a:ext cx="2468880" cy="457200"/>
          </a:xfrm>
          <a:prstGeom prst="rect">
            <a:avLst/>
          </a:prstGeom>
          <a:noFill/>
          <a:ln/>
        </p:spPr>
        <p:txBody>
          <a:bodyPr wrap="square" rtlCol="0" anchor="ctr"/>
          <a:lstStyle/>
          <a:p>
            <a:pPr algn="ctr" indent="0" marL="0">
              <a:buNone/>
            </a:pPr>
            <a:r>
              <a:rPr lang="en-US" sz="950" dirty="0">
                <a:solidFill>
                  <a:srgbClr val="8899AA"/>
                </a:solidFill>
              </a:rPr>
              <a:t>Lowest in Asia — digital infra set to unlock rapid growth</a:t>
            </a:r>
            <a:endParaRPr lang="en-US" sz="950" dirty="0"/>
          </a:p>
        </p:txBody>
      </p:sp>
      <p:sp>
        <p:nvSpPr>
          <p:cNvPr id="20" name="Text 18"/>
          <p:cNvSpPr/>
          <p:nvPr/>
        </p:nvSpPr>
        <p:spPr>
          <a:xfrm>
            <a:off x="274320" y="3767328"/>
            <a:ext cx="8595360" cy="320040"/>
          </a:xfrm>
          <a:prstGeom prst="rect">
            <a:avLst/>
          </a:prstGeom>
          <a:noFill/>
          <a:ln/>
        </p:spPr>
        <p:txBody>
          <a:bodyPr wrap="square" rtlCol="0" anchor="ctr"/>
          <a:lstStyle/>
          <a:p>
            <a:pPr indent="0" marL="0">
              <a:buNone/>
            </a:pPr>
            <a:r>
              <a:rPr lang="en-US" sz="1200" b="1" dirty="0">
                <a:solidFill>
                  <a:srgbClr val="0A1628"/>
                </a:solidFill>
              </a:rPr>
              <a:t>Key Structural Tailwinds Converging Now</a:t>
            </a:r>
            <a:endParaRPr lang="en-US" sz="1200" dirty="0"/>
          </a:p>
        </p:txBody>
      </p:sp>
      <p:sp>
        <p:nvSpPr>
          <p:cNvPr id="21" name="Text 19"/>
          <p:cNvSpPr/>
          <p:nvPr/>
        </p:nvSpPr>
        <p:spPr>
          <a:xfrm>
            <a:off x="274320" y="4133088"/>
            <a:ext cx="8595360" cy="868680"/>
          </a:xfrm>
          <a:prstGeom prst="rect">
            <a:avLst/>
          </a:prstGeom>
          <a:noFill/>
          <a:ln/>
        </p:spPr>
        <p:txBody>
          <a:bodyPr wrap="square" rtlCol="0" anchor="ctr"/>
          <a:lstStyle/>
          <a:p>
            <a:pPr marL="342900" indent="-342900">
              <a:spcAft>
                <a:spcPts val="300"/>
              </a:spcAft>
              <a:buSzPct val="100000"/>
              <a:buChar char="•"/>
            </a:pPr>
            <a:r>
              <a:rPr lang="en-US" sz="1000" dirty="0">
                <a:solidFill>
                  <a:srgbClr val="1A3567"/>
                </a:solidFill>
              </a:rPr>
              <a:t>GST formalization: ITR filers up from 6.69 Cr (2020) to 8.9 Cr (2024) — data richness growing</a:t>
            </a:r>
            <a:endParaRPr lang="en-US" sz="1000" dirty="0"/>
          </a:p>
          <a:p>
            <a:pPr marL="342900" indent="-342900">
              <a:spcAft>
                <a:spcPts val="300"/>
              </a:spcAft>
              <a:buSzPct val="100000"/>
              <a:buChar char="•"/>
            </a:pPr>
            <a:r>
              <a:rPr lang="en-US" sz="1000" dirty="0">
                <a:solidFill>
                  <a:srgbClr val="1A3567"/>
                </a:solidFill>
              </a:rPr>
              <a:t>UPI hitting ₹24 lakh Cr monthly volumes (Mar 2025) — cashflow visibility transforming underwriting</a:t>
            </a:r>
            <a:endParaRPr lang="en-US" sz="1000" dirty="0"/>
          </a:p>
          <a:p>
            <a:pPr marL="342900" indent="-342900">
              <a:spcAft>
                <a:spcPts val="300"/>
              </a:spcAft>
              <a:buSzPct val="100000"/>
              <a:buChar char="•"/>
            </a:pPr>
            <a:r>
              <a:rPr lang="en-US" sz="1000" dirty="0">
                <a:solidFill>
                  <a:srgbClr val="1A3567"/>
                </a:solidFill>
              </a:rPr>
              <a:t>CGTMSE limit raised to ₹5 Cr; Ministry of MSME outlay ₹22,000 Cr in Union Budget 2025</a:t>
            </a:r>
            <a:endParaRPr lang="en-US" sz="1000" dirty="0"/>
          </a:p>
          <a:p>
            <a:pPr marL="342900" indent="-342900">
              <a:spcAft>
                <a:spcPts val="300"/>
              </a:spcAft>
              <a:buSzPct val="100000"/>
              <a:buChar char="•"/>
            </a:pPr>
            <a:r>
              <a:rPr lang="en-US" sz="1000" dirty="0">
                <a:solidFill>
                  <a:srgbClr val="1A3567"/>
                </a:solidFill>
              </a:rPr>
              <a:t>Account Aggregator / OCEN frameworks enabling real-time cash-flow based lending at scale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06  |  RISK FACTORS &amp; MITIGANTS</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74320" y="841248"/>
            <a:ext cx="8595360" cy="713232"/>
          </a:xfrm>
          <a:prstGeom prst="rect">
            <a:avLst/>
          </a:prstGeom>
          <a:solidFill>
            <a:srgbClr val="F0F4F8"/>
          </a:solidFill>
          <a:ln w="12700">
            <a:solidFill>
              <a:srgbClr val="E8EEF5"/>
            </a:solidFill>
            <a:prstDash val="solid"/>
          </a:ln>
        </p:spPr>
        <p:txBody>
          <a:bodyPr/>
          <a:p/>
        </p:txBody>
      </p:sp>
      <p:sp>
        <p:nvSpPr>
          <p:cNvPr id="6" name="Shape 4"/>
          <p:cNvSpPr/>
          <p:nvPr/>
        </p:nvSpPr>
        <p:spPr>
          <a:xfrm>
            <a:off x="274320" y="841248"/>
            <a:ext cx="54864" cy="713232"/>
          </a:xfrm>
          <a:prstGeom prst="rect">
            <a:avLst/>
          </a:prstGeom>
          <a:solidFill>
            <a:srgbClr val="C0392B"/>
          </a:solidFill>
          <a:ln w="12700">
            <a:solidFill>
              <a:srgbClr val="C0392B"/>
            </a:solidFill>
            <a:prstDash val="solid"/>
          </a:ln>
        </p:spPr>
        <p:txBody>
          <a:bodyPr/>
          <a:p/>
        </p:txBody>
      </p:sp>
      <p:sp>
        <p:nvSpPr>
          <p:cNvPr id="7" name="Text 5"/>
          <p:cNvSpPr/>
          <p:nvPr/>
        </p:nvSpPr>
        <p:spPr>
          <a:xfrm>
            <a:off x="438912" y="886968"/>
            <a:ext cx="2560320" cy="256032"/>
          </a:xfrm>
          <a:prstGeom prst="rect">
            <a:avLst/>
          </a:prstGeom>
          <a:noFill/>
          <a:ln/>
        </p:spPr>
        <p:txBody>
          <a:bodyPr wrap="square" rtlCol="0" anchor="ctr"/>
          <a:lstStyle/>
          <a:p>
            <a:pPr indent="0" marL="0">
              <a:buNone/>
            </a:pPr>
            <a:r>
              <a:rPr lang="en-US" sz="1100" b="1" dirty="0">
                <a:solidFill>
                  <a:srgbClr val="0A1628"/>
                </a:solidFill>
              </a:rPr>
              <a:t>Funding &amp; Cost of Capital Risk</a:t>
            </a:r>
            <a:endParaRPr lang="en-US" sz="1100" dirty="0"/>
          </a:p>
        </p:txBody>
      </p:sp>
      <p:sp>
        <p:nvSpPr>
          <p:cNvPr id="8" name="Text 6"/>
          <p:cNvSpPr/>
          <p:nvPr/>
        </p:nvSpPr>
        <p:spPr>
          <a:xfrm>
            <a:off x="438912" y="1188720"/>
            <a:ext cx="2560320" cy="292608"/>
          </a:xfrm>
          <a:prstGeom prst="rect">
            <a:avLst/>
          </a:prstGeom>
          <a:noFill/>
          <a:ln/>
        </p:spPr>
        <p:txBody>
          <a:bodyPr wrap="square" rtlCol="0" anchor="ctr"/>
          <a:lstStyle/>
          <a:p>
            <a:pPr indent="0" marL="0">
              <a:buNone/>
            </a:pPr>
            <a:r>
              <a:rPr lang="en-US" sz="900" dirty="0">
                <a:solidFill>
                  <a:srgbClr val="8899AA"/>
                </a:solidFill>
              </a:rPr>
              <a:t>NBFC borrowing costs sensitive to rating downgrades and market liquidity</a:t>
            </a:r>
            <a:endParaRPr lang="en-US" sz="900" dirty="0"/>
          </a:p>
        </p:txBody>
      </p:sp>
      <p:sp>
        <p:nvSpPr>
          <p:cNvPr id="9" name="Text 7"/>
          <p:cNvSpPr/>
          <p:nvPr/>
        </p:nvSpPr>
        <p:spPr>
          <a:xfrm>
            <a:off x="3127248" y="1024128"/>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10" name="Shape 8"/>
          <p:cNvSpPr/>
          <p:nvPr/>
        </p:nvSpPr>
        <p:spPr>
          <a:xfrm>
            <a:off x="3456432" y="886968"/>
            <a:ext cx="54864" cy="621792"/>
          </a:xfrm>
          <a:prstGeom prst="rect">
            <a:avLst/>
          </a:prstGeom>
          <a:solidFill>
            <a:srgbClr val="0E7C7B"/>
          </a:solidFill>
          <a:ln w="12700">
            <a:solidFill>
              <a:srgbClr val="0E7C7B"/>
            </a:solidFill>
            <a:prstDash val="solid"/>
          </a:ln>
        </p:spPr>
        <p:txBody>
          <a:bodyPr/>
          <a:p/>
        </p:txBody>
      </p:sp>
      <p:sp>
        <p:nvSpPr>
          <p:cNvPr id="11" name="Text 9"/>
          <p:cNvSpPr/>
          <p:nvPr/>
        </p:nvSpPr>
        <p:spPr>
          <a:xfrm>
            <a:off x="3621024" y="914400"/>
            <a:ext cx="5074920" cy="548640"/>
          </a:xfrm>
          <a:prstGeom prst="rect">
            <a:avLst/>
          </a:prstGeom>
          <a:noFill/>
          <a:ln/>
        </p:spPr>
        <p:txBody>
          <a:bodyPr wrap="square" rtlCol="0" anchor="ctr"/>
          <a:lstStyle/>
          <a:p>
            <a:pPr indent="0" marL="0">
              <a:buNone/>
            </a:pPr>
            <a:r>
              <a:rPr lang="en-US" sz="950" dirty="0">
                <a:solidFill>
                  <a:srgbClr val="1A3567"/>
                </a:solidFill>
              </a:rPr>
              <a:t>Mitigant: IND A+ ratings on ₹3,700 Cr+ facilities. Diversified sources: bank loans, CPs, bonds, co-lending. 17 banking partners reduce concentration.</a:t>
            </a:r>
            <a:endParaRPr lang="en-US" sz="950" dirty="0"/>
          </a:p>
        </p:txBody>
      </p:sp>
      <p:sp>
        <p:nvSpPr>
          <p:cNvPr id="12" name="Shape 10"/>
          <p:cNvSpPr/>
          <p:nvPr/>
        </p:nvSpPr>
        <p:spPr>
          <a:xfrm>
            <a:off x="274320" y="1645920"/>
            <a:ext cx="8595360" cy="713232"/>
          </a:xfrm>
          <a:prstGeom prst="rect">
            <a:avLst/>
          </a:prstGeom>
          <a:solidFill>
            <a:srgbClr val="FAFAFA"/>
          </a:solidFill>
          <a:ln w="12700">
            <a:solidFill>
              <a:srgbClr val="E8EEF5"/>
            </a:solidFill>
            <a:prstDash val="solid"/>
          </a:ln>
        </p:spPr>
        <p:txBody>
          <a:bodyPr/>
          <a:p/>
        </p:txBody>
      </p:sp>
      <p:sp>
        <p:nvSpPr>
          <p:cNvPr id="13" name="Shape 11"/>
          <p:cNvSpPr/>
          <p:nvPr/>
        </p:nvSpPr>
        <p:spPr>
          <a:xfrm>
            <a:off x="274320" y="1645920"/>
            <a:ext cx="54864" cy="713232"/>
          </a:xfrm>
          <a:prstGeom prst="rect">
            <a:avLst/>
          </a:prstGeom>
          <a:solidFill>
            <a:srgbClr val="C0392B"/>
          </a:solidFill>
          <a:ln w="12700">
            <a:solidFill>
              <a:srgbClr val="C0392B"/>
            </a:solidFill>
            <a:prstDash val="solid"/>
          </a:ln>
        </p:spPr>
        <p:txBody>
          <a:bodyPr/>
          <a:p/>
        </p:txBody>
      </p:sp>
      <p:sp>
        <p:nvSpPr>
          <p:cNvPr id="14" name="Text 12"/>
          <p:cNvSpPr/>
          <p:nvPr/>
        </p:nvSpPr>
        <p:spPr>
          <a:xfrm>
            <a:off x="438912" y="1691640"/>
            <a:ext cx="2560320" cy="256032"/>
          </a:xfrm>
          <a:prstGeom prst="rect">
            <a:avLst/>
          </a:prstGeom>
          <a:noFill/>
          <a:ln/>
        </p:spPr>
        <p:txBody>
          <a:bodyPr wrap="square" rtlCol="0" anchor="ctr"/>
          <a:lstStyle/>
          <a:p>
            <a:pPr indent="0" marL="0">
              <a:buNone/>
            </a:pPr>
            <a:r>
              <a:rPr lang="en-US" sz="1100" b="1" dirty="0">
                <a:solidFill>
                  <a:srgbClr val="0A1628"/>
                </a:solidFill>
              </a:rPr>
              <a:t>Asset Quality / Credit Risk</a:t>
            </a:r>
            <a:endParaRPr lang="en-US" sz="1100" dirty="0"/>
          </a:p>
        </p:txBody>
      </p:sp>
      <p:sp>
        <p:nvSpPr>
          <p:cNvPr id="15" name="Text 13"/>
          <p:cNvSpPr/>
          <p:nvPr/>
        </p:nvSpPr>
        <p:spPr>
          <a:xfrm>
            <a:off x="438912" y="1993392"/>
            <a:ext cx="2560320" cy="292608"/>
          </a:xfrm>
          <a:prstGeom prst="rect">
            <a:avLst/>
          </a:prstGeom>
          <a:noFill/>
          <a:ln/>
        </p:spPr>
        <p:txBody>
          <a:bodyPr wrap="square" rtlCol="0" anchor="ctr"/>
          <a:lstStyle/>
          <a:p>
            <a:pPr indent="0" marL="0">
              <a:buNone/>
            </a:pPr>
            <a:r>
              <a:rPr lang="en-US" sz="900" dirty="0">
                <a:solidFill>
                  <a:srgbClr val="8899AA"/>
                </a:solidFill>
              </a:rPr>
              <a:t>Rapid EM branch expansion into Tier 2–5 markets introduces higher credit risk</a:t>
            </a:r>
            <a:endParaRPr lang="en-US" sz="900" dirty="0"/>
          </a:p>
        </p:txBody>
      </p:sp>
      <p:sp>
        <p:nvSpPr>
          <p:cNvPr id="16" name="Text 14"/>
          <p:cNvSpPr/>
          <p:nvPr/>
        </p:nvSpPr>
        <p:spPr>
          <a:xfrm>
            <a:off x="3127248" y="1828800"/>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17" name="Shape 15"/>
          <p:cNvSpPr/>
          <p:nvPr/>
        </p:nvSpPr>
        <p:spPr>
          <a:xfrm>
            <a:off x="3456432" y="1691640"/>
            <a:ext cx="54864" cy="621792"/>
          </a:xfrm>
          <a:prstGeom prst="rect">
            <a:avLst/>
          </a:prstGeom>
          <a:solidFill>
            <a:srgbClr val="0E7C7B"/>
          </a:solidFill>
          <a:ln w="12700">
            <a:solidFill>
              <a:srgbClr val="0E7C7B"/>
            </a:solidFill>
            <a:prstDash val="solid"/>
          </a:ln>
        </p:spPr>
        <p:txBody>
          <a:bodyPr/>
          <a:p/>
        </p:txBody>
      </p:sp>
      <p:sp>
        <p:nvSpPr>
          <p:cNvPr id="18" name="Text 16"/>
          <p:cNvSpPr/>
          <p:nvPr/>
        </p:nvSpPr>
        <p:spPr>
          <a:xfrm>
            <a:off x="3621024" y="1719072"/>
            <a:ext cx="5074920" cy="548640"/>
          </a:xfrm>
          <a:prstGeom prst="rect">
            <a:avLst/>
          </a:prstGeom>
          <a:noFill/>
          <a:ln/>
        </p:spPr>
        <p:txBody>
          <a:bodyPr wrap="square" rtlCol="0" anchor="ctr"/>
          <a:lstStyle/>
          <a:p>
            <a:pPr indent="0" marL="0">
              <a:buNone/>
            </a:pPr>
            <a:r>
              <a:rPr lang="en-US" sz="950" dirty="0">
                <a:solidFill>
                  <a:srgbClr val="1A3567"/>
                </a:solidFill>
              </a:rPr>
              <a:t>Mitigant: GRO Score™ v3.0 underwrites every loan. GNPA at Not Available stable YoY. EM-secured GNPA at 3.7–4%, within target credit cost bands.</a:t>
            </a:r>
            <a:endParaRPr lang="en-US" sz="950" dirty="0"/>
          </a:p>
        </p:txBody>
      </p:sp>
      <p:sp>
        <p:nvSpPr>
          <p:cNvPr id="19" name="Shape 17"/>
          <p:cNvSpPr/>
          <p:nvPr/>
        </p:nvSpPr>
        <p:spPr>
          <a:xfrm>
            <a:off x="274320" y="2450592"/>
            <a:ext cx="8595360" cy="713232"/>
          </a:xfrm>
          <a:prstGeom prst="rect">
            <a:avLst/>
          </a:prstGeom>
          <a:solidFill>
            <a:srgbClr val="F0F4F8"/>
          </a:solidFill>
          <a:ln w="12700">
            <a:solidFill>
              <a:srgbClr val="E8EEF5"/>
            </a:solidFill>
            <a:prstDash val="solid"/>
          </a:ln>
        </p:spPr>
        <p:txBody>
          <a:bodyPr/>
          <a:p/>
        </p:txBody>
      </p:sp>
      <p:sp>
        <p:nvSpPr>
          <p:cNvPr id="20" name="Shape 18"/>
          <p:cNvSpPr/>
          <p:nvPr/>
        </p:nvSpPr>
        <p:spPr>
          <a:xfrm>
            <a:off x="274320" y="2450592"/>
            <a:ext cx="54864" cy="713232"/>
          </a:xfrm>
          <a:prstGeom prst="rect">
            <a:avLst/>
          </a:prstGeom>
          <a:solidFill>
            <a:srgbClr val="C0392B"/>
          </a:solidFill>
          <a:ln w="12700">
            <a:solidFill>
              <a:srgbClr val="C0392B"/>
            </a:solidFill>
            <a:prstDash val="solid"/>
          </a:ln>
        </p:spPr>
        <p:txBody>
          <a:bodyPr/>
          <a:p/>
        </p:txBody>
      </p:sp>
      <p:sp>
        <p:nvSpPr>
          <p:cNvPr id="21" name="Text 19"/>
          <p:cNvSpPr/>
          <p:nvPr/>
        </p:nvSpPr>
        <p:spPr>
          <a:xfrm>
            <a:off x="438912" y="2496312"/>
            <a:ext cx="2560320" cy="256032"/>
          </a:xfrm>
          <a:prstGeom prst="rect">
            <a:avLst/>
          </a:prstGeom>
          <a:noFill/>
          <a:ln/>
        </p:spPr>
        <p:txBody>
          <a:bodyPr wrap="square" rtlCol="0" anchor="ctr"/>
          <a:lstStyle/>
          <a:p>
            <a:pPr indent="0" marL="0">
              <a:buNone/>
            </a:pPr>
            <a:r>
              <a:rPr lang="en-US" sz="1100" b="1" dirty="0">
                <a:solidFill>
                  <a:srgbClr val="0A1628"/>
                </a:solidFill>
              </a:rPr>
              <a:t>Regulatory &amp; Compliance Risk</a:t>
            </a:r>
            <a:endParaRPr lang="en-US" sz="1100" dirty="0"/>
          </a:p>
        </p:txBody>
      </p:sp>
      <p:sp>
        <p:nvSpPr>
          <p:cNvPr id="22" name="Text 20"/>
          <p:cNvSpPr/>
          <p:nvPr/>
        </p:nvSpPr>
        <p:spPr>
          <a:xfrm>
            <a:off x="438912" y="2798064"/>
            <a:ext cx="2560320" cy="292608"/>
          </a:xfrm>
          <a:prstGeom prst="rect">
            <a:avLst/>
          </a:prstGeom>
          <a:noFill/>
          <a:ln/>
        </p:spPr>
        <p:txBody>
          <a:bodyPr wrap="square" rtlCol="0" anchor="ctr"/>
          <a:lstStyle/>
          <a:p>
            <a:pPr indent="0" marL="0">
              <a:buNone/>
            </a:pPr>
            <a:r>
              <a:rPr lang="en-US" sz="900" dirty="0">
                <a:solidFill>
                  <a:srgbClr val="8899AA"/>
                </a:solidFill>
              </a:rPr>
              <a:t>RBI NBFC regulations evolving; higher risk weights on bank-to-NBFC exposures</a:t>
            </a:r>
            <a:endParaRPr lang="en-US" sz="900" dirty="0"/>
          </a:p>
        </p:txBody>
      </p:sp>
      <p:sp>
        <p:nvSpPr>
          <p:cNvPr id="23" name="Text 21"/>
          <p:cNvSpPr/>
          <p:nvPr/>
        </p:nvSpPr>
        <p:spPr>
          <a:xfrm>
            <a:off x="3127248" y="2633472"/>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24" name="Shape 22"/>
          <p:cNvSpPr/>
          <p:nvPr/>
        </p:nvSpPr>
        <p:spPr>
          <a:xfrm>
            <a:off x="3456432" y="2496312"/>
            <a:ext cx="54864" cy="621792"/>
          </a:xfrm>
          <a:prstGeom prst="rect">
            <a:avLst/>
          </a:prstGeom>
          <a:solidFill>
            <a:srgbClr val="0E7C7B"/>
          </a:solidFill>
          <a:ln w="12700">
            <a:solidFill>
              <a:srgbClr val="0E7C7B"/>
            </a:solidFill>
            <a:prstDash val="solid"/>
          </a:ln>
        </p:spPr>
        <p:txBody>
          <a:bodyPr/>
          <a:p/>
        </p:txBody>
      </p:sp>
      <p:sp>
        <p:nvSpPr>
          <p:cNvPr id="25" name="Text 23"/>
          <p:cNvSpPr/>
          <p:nvPr/>
        </p:nvSpPr>
        <p:spPr>
          <a:xfrm>
            <a:off x="3621024" y="2523744"/>
            <a:ext cx="5074920" cy="548640"/>
          </a:xfrm>
          <a:prstGeom prst="rect">
            <a:avLst/>
          </a:prstGeom>
          <a:noFill/>
          <a:ln/>
        </p:spPr>
        <p:txBody>
          <a:bodyPr wrap="square" rtlCol="0" anchor="ctr"/>
          <a:lstStyle/>
          <a:p>
            <a:pPr indent="0" marL="0">
              <a:buNone/>
            </a:pPr>
            <a:r>
              <a:rPr lang="en-US" sz="950" dirty="0">
                <a:solidFill>
                  <a:srgbClr val="1A3567"/>
                </a:solidFill>
              </a:rPr>
              <a:t>Mitigant: Strong CRAR of 20.8% (Tier 1: 18.57%). ₹1,265 Cr equity raise in FY25 provides significant headroom above regulatory minima.</a:t>
            </a:r>
            <a:endParaRPr lang="en-US" sz="950" dirty="0"/>
          </a:p>
        </p:txBody>
      </p:sp>
      <p:sp>
        <p:nvSpPr>
          <p:cNvPr id="26" name="Shape 24"/>
          <p:cNvSpPr/>
          <p:nvPr/>
        </p:nvSpPr>
        <p:spPr>
          <a:xfrm>
            <a:off x="274320" y="3255264"/>
            <a:ext cx="8595360" cy="713232"/>
          </a:xfrm>
          <a:prstGeom prst="rect">
            <a:avLst/>
          </a:prstGeom>
          <a:solidFill>
            <a:srgbClr val="FAFAFA"/>
          </a:solidFill>
          <a:ln w="12700">
            <a:solidFill>
              <a:srgbClr val="E8EEF5"/>
            </a:solidFill>
            <a:prstDash val="solid"/>
          </a:ln>
        </p:spPr>
        <p:txBody>
          <a:bodyPr/>
          <a:p/>
        </p:txBody>
      </p:sp>
      <p:sp>
        <p:nvSpPr>
          <p:cNvPr id="27" name="Shape 25"/>
          <p:cNvSpPr/>
          <p:nvPr/>
        </p:nvSpPr>
        <p:spPr>
          <a:xfrm>
            <a:off x="274320" y="3255264"/>
            <a:ext cx="54864" cy="713232"/>
          </a:xfrm>
          <a:prstGeom prst="rect">
            <a:avLst/>
          </a:prstGeom>
          <a:solidFill>
            <a:srgbClr val="C0392B"/>
          </a:solidFill>
          <a:ln w="12700">
            <a:solidFill>
              <a:srgbClr val="C0392B"/>
            </a:solidFill>
            <a:prstDash val="solid"/>
          </a:ln>
        </p:spPr>
        <p:txBody>
          <a:bodyPr/>
          <a:p/>
        </p:txBody>
      </p:sp>
      <p:sp>
        <p:nvSpPr>
          <p:cNvPr id="28" name="Text 26"/>
          <p:cNvSpPr/>
          <p:nvPr/>
        </p:nvSpPr>
        <p:spPr>
          <a:xfrm>
            <a:off x="438912" y="3300984"/>
            <a:ext cx="2560320" cy="256032"/>
          </a:xfrm>
          <a:prstGeom prst="rect">
            <a:avLst/>
          </a:prstGeom>
          <a:noFill/>
          <a:ln/>
        </p:spPr>
        <p:txBody>
          <a:bodyPr wrap="square" rtlCol="0" anchor="ctr"/>
          <a:lstStyle/>
          <a:p>
            <a:pPr indent="0" marL="0">
              <a:buNone/>
            </a:pPr>
            <a:r>
              <a:rPr lang="en-US" sz="1100" b="1" dirty="0">
                <a:solidFill>
                  <a:srgbClr val="0A1628"/>
                </a:solidFill>
              </a:rPr>
              <a:t>Competitive Intensification</a:t>
            </a:r>
            <a:endParaRPr lang="en-US" sz="1100" dirty="0"/>
          </a:p>
        </p:txBody>
      </p:sp>
      <p:sp>
        <p:nvSpPr>
          <p:cNvPr id="29" name="Text 27"/>
          <p:cNvSpPr/>
          <p:nvPr/>
        </p:nvSpPr>
        <p:spPr>
          <a:xfrm>
            <a:off x="438912" y="3602736"/>
            <a:ext cx="2560320" cy="292608"/>
          </a:xfrm>
          <a:prstGeom prst="rect">
            <a:avLst/>
          </a:prstGeom>
          <a:noFill/>
          <a:ln/>
        </p:spPr>
        <p:txBody>
          <a:bodyPr wrap="square" rtlCol="0" anchor="ctr"/>
          <a:lstStyle/>
          <a:p>
            <a:pPr indent="0" marL="0">
              <a:buNone/>
            </a:pPr>
            <a:r>
              <a:rPr lang="en-US" sz="900" dirty="0">
                <a:solidFill>
                  <a:srgbClr val="8899AA"/>
                </a:solidFill>
              </a:rPr>
              <a:t>Banks, fintechs and new-age NBFCs entering MSME lending segment</a:t>
            </a:r>
            <a:endParaRPr lang="en-US" sz="900" dirty="0"/>
          </a:p>
        </p:txBody>
      </p:sp>
      <p:sp>
        <p:nvSpPr>
          <p:cNvPr id="30" name="Text 28"/>
          <p:cNvSpPr/>
          <p:nvPr/>
        </p:nvSpPr>
        <p:spPr>
          <a:xfrm>
            <a:off x="3127248" y="3438144"/>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31" name="Shape 29"/>
          <p:cNvSpPr/>
          <p:nvPr/>
        </p:nvSpPr>
        <p:spPr>
          <a:xfrm>
            <a:off x="3456432" y="3300984"/>
            <a:ext cx="54864" cy="621792"/>
          </a:xfrm>
          <a:prstGeom prst="rect">
            <a:avLst/>
          </a:prstGeom>
          <a:solidFill>
            <a:srgbClr val="0E7C7B"/>
          </a:solidFill>
          <a:ln w="12700">
            <a:solidFill>
              <a:srgbClr val="0E7C7B"/>
            </a:solidFill>
            <a:prstDash val="solid"/>
          </a:ln>
        </p:spPr>
        <p:txBody>
          <a:bodyPr/>
          <a:p/>
        </p:txBody>
      </p:sp>
      <p:sp>
        <p:nvSpPr>
          <p:cNvPr id="32" name="Text 30"/>
          <p:cNvSpPr/>
          <p:nvPr/>
        </p:nvSpPr>
        <p:spPr>
          <a:xfrm>
            <a:off x="3621024" y="3328416"/>
            <a:ext cx="5074920" cy="548640"/>
          </a:xfrm>
          <a:prstGeom prst="rect">
            <a:avLst/>
          </a:prstGeom>
          <a:noFill/>
          <a:ln/>
        </p:spPr>
        <p:txBody>
          <a:bodyPr wrap="square" rtlCol="0" anchor="ctr"/>
          <a:lstStyle/>
          <a:p>
            <a:pPr indent="0" marL="0">
              <a:buNone/>
            </a:pPr>
            <a:r>
              <a:rPr lang="en-US" sz="950" dirty="0">
                <a:solidFill>
                  <a:srgbClr val="1A3567"/>
                </a:solidFill>
              </a:rPr>
              <a:t>Mitigant: Patented GRO Score™ moat, embedded finance flywheel (MSL), and 5-year head start in EM branch network create durable differentiation.</a:t>
            </a:r>
            <a:endParaRPr lang="en-US" sz="950" dirty="0"/>
          </a:p>
        </p:txBody>
      </p:sp>
      <p:sp>
        <p:nvSpPr>
          <p:cNvPr id="33" name="Shape 31"/>
          <p:cNvSpPr/>
          <p:nvPr/>
        </p:nvSpPr>
        <p:spPr>
          <a:xfrm>
            <a:off x="274320" y="4059936"/>
            <a:ext cx="8595360" cy="713232"/>
          </a:xfrm>
          <a:prstGeom prst="rect">
            <a:avLst/>
          </a:prstGeom>
          <a:solidFill>
            <a:srgbClr val="F0F4F8"/>
          </a:solidFill>
          <a:ln w="12700">
            <a:solidFill>
              <a:srgbClr val="E8EEF5"/>
            </a:solidFill>
            <a:prstDash val="solid"/>
          </a:ln>
        </p:spPr>
        <p:txBody>
          <a:bodyPr/>
          <a:p/>
        </p:txBody>
      </p:sp>
      <p:sp>
        <p:nvSpPr>
          <p:cNvPr id="34" name="Shape 32"/>
          <p:cNvSpPr/>
          <p:nvPr/>
        </p:nvSpPr>
        <p:spPr>
          <a:xfrm>
            <a:off x="274320" y="4059936"/>
            <a:ext cx="54864" cy="713232"/>
          </a:xfrm>
          <a:prstGeom prst="rect">
            <a:avLst/>
          </a:prstGeom>
          <a:solidFill>
            <a:srgbClr val="C0392B"/>
          </a:solidFill>
          <a:ln w="12700">
            <a:solidFill>
              <a:srgbClr val="C0392B"/>
            </a:solidFill>
            <a:prstDash val="solid"/>
          </a:ln>
        </p:spPr>
        <p:txBody>
          <a:bodyPr/>
          <a:p/>
        </p:txBody>
      </p:sp>
      <p:sp>
        <p:nvSpPr>
          <p:cNvPr id="35" name="Text 33"/>
          <p:cNvSpPr/>
          <p:nvPr/>
        </p:nvSpPr>
        <p:spPr>
          <a:xfrm>
            <a:off x="438912" y="4105656"/>
            <a:ext cx="2560320" cy="256032"/>
          </a:xfrm>
          <a:prstGeom prst="rect">
            <a:avLst/>
          </a:prstGeom>
          <a:noFill/>
          <a:ln/>
        </p:spPr>
        <p:txBody>
          <a:bodyPr wrap="square" rtlCol="0" anchor="ctr"/>
          <a:lstStyle/>
          <a:p>
            <a:pPr indent="0" marL="0">
              <a:buNone/>
            </a:pPr>
            <a:r>
              <a:rPr lang="en-US" sz="1100" b="1" dirty="0">
                <a:solidFill>
                  <a:srgbClr val="0A1628"/>
                </a:solidFill>
              </a:rPr>
              <a:t>Execution / Scaling Risk</a:t>
            </a:r>
            <a:endParaRPr lang="en-US" sz="1100" dirty="0"/>
          </a:p>
        </p:txBody>
      </p:sp>
      <p:sp>
        <p:nvSpPr>
          <p:cNvPr id="36" name="Text 34"/>
          <p:cNvSpPr/>
          <p:nvPr/>
        </p:nvSpPr>
        <p:spPr>
          <a:xfrm>
            <a:off x="438912" y="4407408"/>
            <a:ext cx="2560320" cy="292608"/>
          </a:xfrm>
          <a:prstGeom prst="rect">
            <a:avLst/>
          </a:prstGeom>
          <a:noFill/>
          <a:ln/>
        </p:spPr>
        <p:txBody>
          <a:bodyPr wrap="square" rtlCol="0" anchor="ctr"/>
          <a:lstStyle/>
          <a:p>
            <a:pPr indent="0" marL="0">
              <a:buNone/>
            </a:pPr>
            <a:r>
              <a:rPr lang="en-US" sz="900" dirty="0">
                <a:solidFill>
                  <a:srgbClr val="8899AA"/>
                </a:solidFill>
              </a:rPr>
              <a:t>Expanding to 400 EM branches and scaling MSL simultaneously is operationally intensive</a:t>
            </a:r>
            <a:endParaRPr lang="en-US" sz="900" dirty="0"/>
          </a:p>
        </p:txBody>
      </p:sp>
      <p:sp>
        <p:nvSpPr>
          <p:cNvPr id="37" name="Text 35"/>
          <p:cNvSpPr/>
          <p:nvPr/>
        </p:nvSpPr>
        <p:spPr>
          <a:xfrm>
            <a:off x="3127248" y="4242816"/>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38" name="Shape 36"/>
          <p:cNvSpPr/>
          <p:nvPr/>
        </p:nvSpPr>
        <p:spPr>
          <a:xfrm>
            <a:off x="3456432" y="4105656"/>
            <a:ext cx="54864" cy="621792"/>
          </a:xfrm>
          <a:prstGeom prst="rect">
            <a:avLst/>
          </a:prstGeom>
          <a:solidFill>
            <a:srgbClr val="0E7C7B"/>
          </a:solidFill>
          <a:ln w="12700">
            <a:solidFill>
              <a:srgbClr val="0E7C7B"/>
            </a:solidFill>
            <a:prstDash val="solid"/>
          </a:ln>
        </p:spPr>
        <p:txBody>
          <a:bodyPr/>
          <a:p/>
        </p:txBody>
      </p:sp>
      <p:sp>
        <p:nvSpPr>
          <p:cNvPr id="39" name="Text 37"/>
          <p:cNvSpPr/>
          <p:nvPr/>
        </p:nvSpPr>
        <p:spPr>
          <a:xfrm>
            <a:off x="3621024" y="4133088"/>
            <a:ext cx="5074920" cy="548640"/>
          </a:xfrm>
          <a:prstGeom prst="rect">
            <a:avLst/>
          </a:prstGeom>
          <a:noFill/>
          <a:ln/>
        </p:spPr>
        <p:txBody>
          <a:bodyPr wrap="square" rtlCol="0" anchor="ctr"/>
          <a:lstStyle/>
          <a:p>
            <a:pPr indent="0" marL="0">
              <a:buNone/>
            </a:pPr>
            <a:r>
              <a:rPr lang="en-US" sz="950" dirty="0">
                <a:solidFill>
                  <a:srgbClr val="1A3567"/>
                </a:solidFill>
              </a:rPr>
              <a:t>Mitigant: All branches on real-time digital platform with instant e-KYC. Technology-first approach with AI tools integrated into origination.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07  |  FY26 STRATEGY &amp; OUTLOOK</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74320" y="822960"/>
            <a:ext cx="8595360" cy="804672"/>
          </a:xfrm>
          <a:prstGeom prst="rect">
            <a:avLst/>
          </a:prstGeom>
          <a:solidFill>
            <a:srgbClr val="0A1628"/>
          </a:solidFill>
          <a:ln w="12700">
            <a:solidFill>
              <a:srgbClr val="0A1628"/>
            </a:solidFill>
            <a:prstDash val="solid"/>
          </a:ln>
        </p:spPr>
        <p:txBody>
          <a:bodyPr/>
          <a:p/>
        </p:txBody>
      </p:sp>
      <p:sp>
        <p:nvSpPr>
          <p:cNvPr id="6" name="Text 4"/>
          <p:cNvSpPr/>
          <p:nvPr/>
        </p:nvSpPr>
        <p:spPr>
          <a:xfrm>
            <a:off x="457200" y="914400"/>
            <a:ext cx="8229600" cy="594360"/>
          </a:xfrm>
          <a:prstGeom prst="rect">
            <a:avLst/>
          </a:prstGeom>
          <a:noFill/>
          <a:ln/>
        </p:spPr>
        <p:txBody>
          <a:bodyPr wrap="square" rtlCol="0" anchor="ctr"/>
          <a:lstStyle/>
          <a:p>
            <a:pPr algn="ctr" indent="0" marL="0">
              <a:buNone/>
            </a:pPr>
            <a:r>
              <a:rPr lang="en-US" sz="1400" b="1" dirty="0">
                <a:solidFill>
                  <a:srgbClr val="E8C96B"/>
                </a:solidFill>
              </a:rPr>
              <a:t>FY26 Targets: AUM ₹16,000–17,000 Cr  |  GNPA &lt; 2.5%  |  ROE Improvement  |  400 EM Branches</a:t>
            </a:r>
            <a:endParaRPr lang="en-US" sz="1400" dirty="0"/>
          </a:p>
        </p:txBody>
      </p:sp>
      <p:sp>
        <p:nvSpPr>
          <p:cNvPr id="7" name="Shape 5"/>
          <p:cNvSpPr/>
          <p:nvPr/>
        </p:nvSpPr>
        <p:spPr>
          <a:xfrm>
            <a:off x="274320" y="1783080"/>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txBody>
          <a:bodyPr/>
          <a:p/>
        </p:txBody>
      </p:sp>
      <p:pic>
        <p:nvPicPr>
          <p:cNvPr id="8" name="Image 0" descr="preencoded.png">    </p:cNvPr>
          <p:cNvPicPr>
            <a:picLocks noChangeAspect="1"/>
          </p:cNvPicPr>
          <p:nvPr/>
        </p:nvPicPr>
        <p:blipFill>
          <a:blip r:embed="rId1"/>
          <a:stretch>
            <a:fillRect/>
          </a:stretch>
        </p:blipFill>
        <p:spPr>
          <a:xfrm>
            <a:off x="438912" y="1892808"/>
            <a:ext cx="365760" cy="365760"/>
          </a:xfrm>
          <a:prstGeom prst="rect">
            <a:avLst/>
          </a:prstGeom>
        </p:spPr>
      </p:pic>
      <p:sp>
        <p:nvSpPr>
          <p:cNvPr id="9" name="Text 6"/>
          <p:cNvSpPr/>
          <p:nvPr/>
        </p:nvSpPr>
        <p:spPr>
          <a:xfrm>
            <a:off x="914400" y="1874520"/>
            <a:ext cx="3401568" cy="365760"/>
          </a:xfrm>
          <a:prstGeom prst="rect">
            <a:avLst/>
          </a:prstGeom>
          <a:noFill/>
          <a:ln/>
        </p:spPr>
        <p:txBody>
          <a:bodyPr wrap="square" rtlCol="0" anchor="ctr"/>
          <a:lstStyle/>
          <a:p>
            <a:pPr indent="0" marL="0">
              <a:buNone/>
            </a:pPr>
            <a:r>
              <a:rPr lang="en-US" sz="1100" b="1" dirty="0">
                <a:solidFill>
                  <a:srgbClr val="0A1628"/>
                </a:solidFill>
              </a:rPr>
              <a:t>Deepen Emerging Market Penetration</a:t>
            </a:r>
            <a:endParaRPr lang="en-US" sz="1100" dirty="0"/>
          </a:p>
        </p:txBody>
      </p:sp>
      <p:sp>
        <p:nvSpPr>
          <p:cNvPr id="10" name="Text 7"/>
          <p:cNvSpPr/>
          <p:nvPr/>
        </p:nvSpPr>
        <p:spPr>
          <a:xfrm>
            <a:off x="438912" y="2331720"/>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Expand EM branches from 201 → 400 by FY26</a:t>
            </a:r>
            <a:endParaRPr lang="en-US" sz="950" dirty="0"/>
          </a:p>
          <a:p>
            <a:pPr marL="342900" indent="-342900">
              <a:spcAft>
                <a:spcPts val="200"/>
              </a:spcAft>
              <a:buSzPct val="100000"/>
              <a:buChar char="•"/>
            </a:pPr>
            <a:r>
              <a:rPr lang="en-US" sz="950" dirty="0">
                <a:solidFill>
                  <a:srgbClr val="1A3567"/>
                </a:solidFill>
              </a:rPr>
              <a:t>Target 32–35% of AUM from EM channels</a:t>
            </a:r>
            <a:endParaRPr lang="en-US" sz="950" dirty="0"/>
          </a:p>
          <a:p>
            <a:pPr marL="342900" indent="-342900">
              <a:spcAft>
                <a:spcPts val="200"/>
              </a:spcAft>
              <a:buSzPct val="100000"/>
              <a:buChar char="•"/>
            </a:pPr>
            <a:r>
              <a:rPr lang="en-US" sz="950" dirty="0">
                <a:solidFill>
                  <a:srgbClr val="1A3567"/>
                </a:solidFill>
              </a:rPr>
              <a:t>Avg ticket ~₹16L, yield ~19%, disciplined credit costs</a:t>
            </a:r>
            <a:endParaRPr lang="en-US" sz="950" dirty="0"/>
          </a:p>
        </p:txBody>
      </p:sp>
      <p:sp>
        <p:nvSpPr>
          <p:cNvPr id="11" name="Shape 8"/>
          <p:cNvSpPr/>
          <p:nvPr/>
        </p:nvSpPr>
        <p:spPr>
          <a:xfrm>
            <a:off x="4709160" y="1783080"/>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873752" y="1892808"/>
            <a:ext cx="365760" cy="365760"/>
          </a:xfrm>
          <a:prstGeom prst="rect">
            <a:avLst/>
          </a:prstGeom>
        </p:spPr>
      </p:pic>
      <p:sp>
        <p:nvSpPr>
          <p:cNvPr id="13" name="Text 9"/>
          <p:cNvSpPr/>
          <p:nvPr/>
        </p:nvSpPr>
        <p:spPr>
          <a:xfrm>
            <a:off x="5349240" y="1874520"/>
            <a:ext cx="3401568" cy="365760"/>
          </a:xfrm>
          <a:prstGeom prst="rect">
            <a:avLst/>
          </a:prstGeom>
          <a:noFill/>
          <a:ln/>
        </p:spPr>
        <p:txBody>
          <a:bodyPr wrap="square" rtlCol="0" anchor="ctr"/>
          <a:lstStyle/>
          <a:p>
            <a:pPr indent="0" marL="0">
              <a:buNone/>
            </a:pPr>
            <a:r>
              <a:rPr lang="en-US" sz="1100" b="1" dirty="0">
                <a:solidFill>
                  <a:srgbClr val="0A1628"/>
                </a:solidFill>
              </a:rPr>
              <a:t>Scale Co-Lending to 50% of AUM</a:t>
            </a:r>
            <a:endParaRPr lang="en-US" sz="1100" dirty="0"/>
          </a:p>
        </p:txBody>
      </p:sp>
      <p:sp>
        <p:nvSpPr>
          <p:cNvPr id="14" name="Text 10"/>
          <p:cNvSpPr/>
          <p:nvPr/>
        </p:nvSpPr>
        <p:spPr>
          <a:xfrm>
            <a:off x="4873752" y="2331720"/>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Increase off-book AUM from 45% → 50%</a:t>
            </a:r>
            <a:endParaRPr lang="en-US" sz="950" dirty="0"/>
          </a:p>
          <a:p>
            <a:pPr marL="342900" indent="-342900">
              <a:spcAft>
                <a:spcPts val="200"/>
              </a:spcAft>
              <a:buSzPct val="100000"/>
              <a:buChar char="•"/>
            </a:pPr>
            <a:r>
              <a:rPr lang="en-US" sz="950" dirty="0">
                <a:solidFill>
                  <a:srgbClr val="1A3567"/>
                </a:solidFill>
              </a:rPr>
              <a:t>Add new PSU and private bank partners</a:t>
            </a:r>
            <a:endParaRPr lang="en-US" sz="950" dirty="0"/>
          </a:p>
          <a:p>
            <a:pPr marL="342900" indent="-342900">
              <a:spcAft>
                <a:spcPts val="200"/>
              </a:spcAft>
              <a:buSzPct val="100000"/>
              <a:buChar char="•"/>
            </a:pPr>
            <a:r>
              <a:rPr lang="en-US" sz="950" dirty="0">
                <a:solidFill>
                  <a:srgbClr val="1A3567"/>
                </a:solidFill>
              </a:rPr>
              <a:t>Priority-sector classification = cost of fund advantage</a:t>
            </a:r>
            <a:endParaRPr lang="en-US" sz="950" dirty="0"/>
          </a:p>
        </p:txBody>
      </p:sp>
      <p:sp>
        <p:nvSpPr>
          <p:cNvPr id="15" name="Shape 11"/>
          <p:cNvSpPr/>
          <p:nvPr/>
        </p:nvSpPr>
        <p:spPr>
          <a:xfrm>
            <a:off x="274320" y="3319272"/>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438912" y="3429000"/>
            <a:ext cx="365760" cy="365760"/>
          </a:xfrm>
          <a:prstGeom prst="rect">
            <a:avLst/>
          </a:prstGeom>
        </p:spPr>
      </p:pic>
      <p:sp>
        <p:nvSpPr>
          <p:cNvPr id="17" name="Text 12"/>
          <p:cNvSpPr/>
          <p:nvPr/>
        </p:nvSpPr>
        <p:spPr>
          <a:xfrm>
            <a:off x="914400" y="3410712"/>
            <a:ext cx="3401568" cy="365760"/>
          </a:xfrm>
          <a:prstGeom prst="rect">
            <a:avLst/>
          </a:prstGeom>
          <a:noFill/>
          <a:ln/>
        </p:spPr>
        <p:txBody>
          <a:bodyPr wrap="square" rtlCol="0" anchor="ctr"/>
          <a:lstStyle/>
          <a:p>
            <a:pPr indent="0" marL="0">
              <a:buNone/>
            </a:pPr>
            <a:r>
              <a:rPr lang="en-US" sz="1100" b="1" dirty="0">
                <a:solidFill>
                  <a:srgbClr val="0A1628"/>
                </a:solidFill>
              </a:rPr>
              <a:t>Embedded Finance &amp; MSL Acceleration</a:t>
            </a:r>
            <a:endParaRPr lang="en-US" sz="1100" dirty="0"/>
          </a:p>
        </p:txBody>
      </p:sp>
      <p:sp>
        <p:nvSpPr>
          <p:cNvPr id="18" name="Text 13"/>
          <p:cNvSpPr/>
          <p:nvPr/>
        </p:nvSpPr>
        <p:spPr>
          <a:xfrm>
            <a:off x="438912" y="3867912"/>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MSL AUM run-rate targeting rapid scale-up</a:t>
            </a:r>
            <a:endParaRPr lang="en-US" sz="950" dirty="0"/>
          </a:p>
          <a:p>
            <a:pPr marL="342900" indent="-342900">
              <a:spcAft>
                <a:spcPts val="200"/>
              </a:spcAft>
              <a:buSzPct val="100000"/>
              <a:buChar char="•"/>
            </a:pPr>
            <a:r>
              <a:rPr lang="en-US" sz="950" dirty="0">
                <a:solidFill>
                  <a:srgbClr val="1A3567"/>
                </a:solidFill>
              </a:rPr>
              <a:t>Retailer finance via OEM/anchor ecosystem APIs</a:t>
            </a:r>
            <a:endParaRPr lang="en-US" sz="950" dirty="0"/>
          </a:p>
          <a:p>
            <a:pPr marL="342900" indent="-342900">
              <a:spcAft>
                <a:spcPts val="200"/>
              </a:spcAft>
              <a:buSzPct val="100000"/>
              <a:buChar char="•"/>
            </a:pPr>
            <a:r>
              <a:rPr lang="en-US" sz="950" dirty="0">
                <a:solidFill>
                  <a:srgbClr val="1A3567"/>
                </a:solidFill>
              </a:rPr>
              <a:t>Micro-insurance and financial services bundling</a:t>
            </a:r>
            <a:endParaRPr lang="en-US" sz="950" dirty="0"/>
          </a:p>
        </p:txBody>
      </p:sp>
      <p:sp>
        <p:nvSpPr>
          <p:cNvPr id="19" name="Shape 14"/>
          <p:cNvSpPr/>
          <p:nvPr/>
        </p:nvSpPr>
        <p:spPr>
          <a:xfrm>
            <a:off x="4709160" y="3319272"/>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4873752" y="3429000"/>
            <a:ext cx="365760" cy="365760"/>
          </a:xfrm>
          <a:prstGeom prst="rect">
            <a:avLst/>
          </a:prstGeom>
        </p:spPr>
      </p:pic>
      <p:sp>
        <p:nvSpPr>
          <p:cNvPr id="21" name="Text 15"/>
          <p:cNvSpPr/>
          <p:nvPr/>
        </p:nvSpPr>
        <p:spPr>
          <a:xfrm>
            <a:off x="5349240" y="3410712"/>
            <a:ext cx="3401568" cy="365760"/>
          </a:xfrm>
          <a:prstGeom prst="rect">
            <a:avLst/>
          </a:prstGeom>
          <a:noFill/>
          <a:ln/>
        </p:spPr>
        <p:txBody>
          <a:bodyPr wrap="square" rtlCol="0" anchor="ctr"/>
          <a:lstStyle/>
          <a:p>
            <a:pPr indent="0" marL="0">
              <a:buNone/>
            </a:pPr>
            <a:r>
              <a:rPr lang="en-US" sz="1100" b="1" dirty="0">
                <a:solidFill>
                  <a:srgbClr val="0A1628"/>
                </a:solidFill>
              </a:rPr>
              <a:t>Profitability &amp; Operating Leverage</a:t>
            </a:r>
            <a:endParaRPr lang="en-US" sz="1100" dirty="0"/>
          </a:p>
        </p:txBody>
      </p:sp>
      <p:sp>
        <p:nvSpPr>
          <p:cNvPr id="22" name="Text 16"/>
          <p:cNvSpPr/>
          <p:nvPr/>
        </p:nvSpPr>
        <p:spPr>
          <a:xfrm>
            <a:off x="4873752" y="3867912"/>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Higher-yield product mix improvement</a:t>
            </a:r>
            <a:endParaRPr lang="en-US" sz="950" dirty="0"/>
          </a:p>
          <a:p>
            <a:pPr marL="342900" indent="-342900">
              <a:spcAft>
                <a:spcPts val="200"/>
              </a:spcAft>
              <a:buSzPct val="100000"/>
              <a:buChar char="•"/>
            </a:pPr>
            <a:r>
              <a:rPr lang="en-US" sz="950" dirty="0">
                <a:solidFill>
                  <a:srgbClr val="1A3567"/>
                </a:solidFill>
              </a:rPr>
              <a:t>Cost-to-income ratio reduction via tech-led efficiency</a:t>
            </a:r>
            <a:endParaRPr lang="en-US" sz="950" dirty="0"/>
          </a:p>
          <a:p>
            <a:pPr marL="342900" indent="-342900">
              <a:spcAft>
                <a:spcPts val="200"/>
              </a:spcAft>
              <a:buSzPct val="100000"/>
              <a:buChar char="•"/>
            </a:pPr>
            <a:r>
              <a:rPr lang="en-US" sz="950" dirty="0">
                <a:solidFill>
                  <a:srgbClr val="1A3567"/>
                </a:solidFill>
              </a:rPr>
              <a:t>Debt rating trajectory → further cost-of-funds compression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txBody>
          <a:bodyPr/>
          <a:p/>
        </p:txBody>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08  |  VALUATION CONSIDERATIONS</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txBody>
          <a:bodyPr/>
          <a:p/>
        </p:txBody>
      </p:sp>
      <p:sp>
        <p:nvSpPr>
          <p:cNvPr id="5" name="Shape 3"/>
          <p:cNvSpPr/>
          <p:nvPr/>
        </p:nvSpPr>
        <p:spPr>
          <a:xfrm>
            <a:off x="274320" y="822960"/>
            <a:ext cx="4023360" cy="2148840"/>
          </a:xfrm>
          <a:prstGeom prst="rect">
            <a:avLst/>
          </a:prstGeom>
          <a:solidFill>
            <a:srgbClr val="0A1628"/>
          </a:solidFill>
          <a:ln w="12700">
            <a:solidFill>
              <a:srgbClr val="0A1628"/>
            </a:solidFill>
            <a:prstDash val="solid"/>
          </a:ln>
        </p:spPr>
        <p:txBody>
          <a:bodyPr/>
          <a:p/>
        </p:txBody>
      </p:sp>
      <p:sp>
        <p:nvSpPr>
          <p:cNvPr id="6" name="Text 4"/>
          <p:cNvSpPr/>
          <p:nvPr/>
        </p:nvSpPr>
        <p:spPr>
          <a:xfrm>
            <a:off x="457200" y="896112"/>
            <a:ext cx="3657600" cy="292608"/>
          </a:xfrm>
          <a:prstGeom prst="rect">
            <a:avLst/>
          </a:prstGeom>
          <a:noFill/>
          <a:ln/>
        </p:spPr>
        <p:txBody>
          <a:bodyPr wrap="square" rtlCol="0" anchor="ctr"/>
          <a:lstStyle/>
          <a:p>
            <a:pPr indent="0" marL="0">
              <a:buNone/>
            </a:pPr>
            <a:r>
              <a:rPr lang="en-US" sz="1200" b="1" dirty="0">
                <a:solidFill>
                  <a:srgbClr val="E8C96B"/>
                </a:solidFill>
              </a:rPr>
              <a:t>Key Valuation Metrics</a:t>
            </a:r>
            <a:endParaRPr lang="en-US" sz="1200" dirty="0"/>
          </a:p>
        </p:txBody>
      </p:sp>
      <p:sp>
        <p:nvSpPr>
          <p:cNvPr id="7" name="Text 5"/>
          <p:cNvSpPr/>
          <p:nvPr/>
        </p:nvSpPr>
        <p:spPr>
          <a:xfrm>
            <a:off x="457200" y="1243584"/>
            <a:ext cx="2560320" cy="237744"/>
          </a:xfrm>
          <a:prstGeom prst="rect">
            <a:avLst/>
          </a:prstGeom>
          <a:noFill/>
          <a:ln/>
        </p:spPr>
        <p:txBody>
          <a:bodyPr wrap="square" rtlCol="0" anchor="ctr"/>
          <a:lstStyle/>
          <a:p>
            <a:pPr indent="0" marL="0">
              <a:buNone/>
            </a:pPr>
            <a:r>
              <a:rPr lang="en-US" sz="950" dirty="0">
                <a:solidFill>
                  <a:srgbClr val="8899AA"/>
                </a:solidFill>
              </a:rPr>
              <a:t>Book Value / Share (Mar'25)</a:t>
            </a:r>
            <a:endParaRPr lang="en-US" sz="950" dirty="0"/>
          </a:p>
        </p:txBody>
      </p:sp>
      <p:sp>
        <p:nvSpPr>
          <p:cNvPr id="8" name="Text 6"/>
          <p:cNvSpPr/>
          <p:nvPr/>
        </p:nvSpPr>
        <p:spPr>
          <a:xfrm>
            <a:off x="3017520" y="1243584"/>
            <a:ext cx="1143000" cy="237744"/>
          </a:xfrm>
          <a:prstGeom prst="rect">
            <a:avLst/>
          </a:prstGeom>
          <a:noFill/>
          <a:ln/>
        </p:spPr>
        <p:txBody>
          <a:bodyPr wrap="square" rtlCol="0" anchor="ctr"/>
          <a:lstStyle/>
          <a:p>
            <a:pPr algn="r" indent="0" marL="0">
              <a:buNone/>
            </a:pPr>
            <a:r>
              <a:rPr lang="en-US" sz="1100" b="1" dirty="0">
                <a:solidFill>
                  <a:srgbClr val="E8C96B"/>
                </a:solidFill>
              </a:rPr>
              <a:t>₹219.6</a:t>
            </a:r>
            <a:endParaRPr lang="en-US" sz="1100" dirty="0"/>
          </a:p>
        </p:txBody>
      </p:sp>
      <p:sp>
        <p:nvSpPr>
          <p:cNvPr id="9" name="Text 7"/>
          <p:cNvSpPr/>
          <p:nvPr/>
        </p:nvSpPr>
        <p:spPr>
          <a:xfrm>
            <a:off x="457200" y="1517904"/>
            <a:ext cx="2560320" cy="237744"/>
          </a:xfrm>
          <a:prstGeom prst="rect">
            <a:avLst/>
          </a:prstGeom>
          <a:noFill/>
          <a:ln/>
        </p:spPr>
        <p:txBody>
          <a:bodyPr wrap="square" rtlCol="0" anchor="ctr"/>
          <a:lstStyle/>
          <a:p>
            <a:pPr indent="0" marL="0">
              <a:buNone/>
            </a:pPr>
            <a:r>
              <a:rPr lang="en-US" sz="950" dirty="0">
                <a:solidFill>
                  <a:srgbClr val="8899AA"/>
                </a:solidFill>
              </a:rPr>
              <a:t>EPS (FY25)</a:t>
            </a:r>
            <a:endParaRPr lang="en-US" sz="950" dirty="0"/>
          </a:p>
        </p:txBody>
      </p:sp>
      <p:sp>
        <p:nvSpPr>
          <p:cNvPr id="10" name="Text 8"/>
          <p:cNvSpPr/>
          <p:nvPr/>
        </p:nvSpPr>
        <p:spPr>
          <a:xfrm>
            <a:off x="3017520" y="1517904"/>
            <a:ext cx="1143000" cy="237744"/>
          </a:xfrm>
          <a:prstGeom prst="rect">
            <a:avLst/>
          </a:prstGeom>
          <a:noFill/>
          <a:ln/>
        </p:spPr>
        <p:txBody>
          <a:bodyPr wrap="square" rtlCol="0" anchor="ctr"/>
          <a:lstStyle/>
          <a:p>
            <a:pPr algn="r" indent="0" marL="0">
              <a:buNone/>
            </a:pPr>
            <a:r>
              <a:rPr lang="en-US" sz="1100" b="1" dirty="0">
                <a:solidFill>
                  <a:srgbClr val="E8C96B"/>
                </a:solidFill>
              </a:rPr>
              <a:t>₹15.68</a:t>
            </a:r>
            <a:endParaRPr lang="en-US" sz="1100" dirty="0"/>
          </a:p>
        </p:txBody>
      </p:sp>
      <p:sp>
        <p:nvSpPr>
          <p:cNvPr id="11" name="Text 9"/>
          <p:cNvSpPr/>
          <p:nvPr/>
        </p:nvSpPr>
        <p:spPr>
          <a:xfrm>
            <a:off x="457200" y="1792224"/>
            <a:ext cx="2560320" cy="237744"/>
          </a:xfrm>
          <a:prstGeom prst="rect">
            <a:avLst/>
          </a:prstGeom>
          <a:noFill/>
          <a:ln/>
        </p:spPr>
        <p:txBody>
          <a:bodyPr wrap="square" rtlCol="0" anchor="ctr"/>
          <a:lstStyle/>
          <a:p>
            <a:pPr indent="0" marL="0">
              <a:buNone/>
            </a:pPr>
            <a:r>
              <a:rPr lang="en-US" sz="950" dirty="0">
                <a:solidFill>
                  <a:srgbClr val="8899AA"/>
                </a:solidFill>
              </a:rPr>
              <a:t>ROE (FY25)¹</a:t>
            </a:r>
            <a:endParaRPr lang="en-US" sz="950" dirty="0"/>
          </a:p>
        </p:txBody>
      </p:sp>
      <p:sp>
        <p:nvSpPr>
          <p:cNvPr id="12" name="Text 10"/>
          <p:cNvSpPr/>
          <p:nvPr/>
        </p:nvSpPr>
        <p:spPr>
          <a:xfrm>
            <a:off x="3017520" y="1792224"/>
            <a:ext cx="1143000" cy="237744"/>
          </a:xfrm>
          <a:prstGeom prst="rect">
            <a:avLst/>
          </a:prstGeom>
          <a:noFill/>
          <a:ln/>
        </p:spPr>
        <p:txBody>
          <a:bodyPr wrap="square" rtlCol="0" anchor="ctr"/>
          <a:lstStyle/>
          <a:p>
            <a:pPr algn="r" indent="0" marL="0">
              <a:buNone/>
            </a:pPr>
            <a:r>
              <a:rPr lang="en-US" sz="1100" b="1" dirty="0">
                <a:solidFill>
                  <a:srgbClr val="E8C96B"/>
                </a:solidFill>
              </a:rPr>
              <a:t>9.9%</a:t>
            </a:r>
            <a:endParaRPr lang="en-US" sz="1100" dirty="0"/>
          </a:p>
        </p:txBody>
      </p:sp>
      <p:sp>
        <p:nvSpPr>
          <p:cNvPr id="13" name="Text 11"/>
          <p:cNvSpPr/>
          <p:nvPr/>
        </p:nvSpPr>
        <p:spPr>
          <a:xfrm>
            <a:off x="457200" y="2066544"/>
            <a:ext cx="2560320" cy="237744"/>
          </a:xfrm>
          <a:prstGeom prst="rect">
            <a:avLst/>
          </a:prstGeom>
          <a:noFill/>
          <a:ln/>
        </p:spPr>
        <p:txBody>
          <a:bodyPr wrap="square" rtlCol="0" anchor="ctr"/>
          <a:lstStyle/>
          <a:p>
            <a:pPr indent="0" marL="0">
              <a:buNone/>
            </a:pPr>
            <a:r>
              <a:rPr lang="en-US" sz="950" dirty="0">
                <a:solidFill>
                  <a:srgbClr val="8899AA"/>
                </a:solidFill>
              </a:rPr>
              <a:t>ROA (FY25)</a:t>
            </a:r>
            <a:endParaRPr lang="en-US" sz="950" dirty="0"/>
          </a:p>
        </p:txBody>
      </p:sp>
      <p:sp>
        <p:nvSpPr>
          <p:cNvPr id="14" name="Text 12"/>
          <p:cNvSpPr/>
          <p:nvPr/>
        </p:nvSpPr>
        <p:spPr>
          <a:xfrm>
            <a:off x="3017520" y="2066544"/>
            <a:ext cx="1143000" cy="237744"/>
          </a:xfrm>
          <a:prstGeom prst="rect">
            <a:avLst/>
          </a:prstGeom>
          <a:noFill/>
          <a:ln/>
        </p:spPr>
        <p:txBody>
          <a:bodyPr wrap="square" rtlCol="0" anchor="ctr"/>
          <a:lstStyle/>
          <a:p>
            <a:pPr algn="r" indent="0" marL="0">
              <a:buNone/>
            </a:pPr>
            <a:r>
              <a:rPr lang="en-US" sz="1100" b="1" dirty="0">
                <a:solidFill>
                  <a:srgbClr val="E8C96B"/>
                </a:solidFill>
              </a:rPr>
              <a:t>2.8%</a:t>
            </a:r>
            <a:endParaRPr lang="en-US" sz="1100" dirty="0"/>
          </a:p>
        </p:txBody>
      </p:sp>
      <p:sp>
        <p:nvSpPr>
          <p:cNvPr id="15" name="Text 13"/>
          <p:cNvSpPr/>
          <p:nvPr/>
        </p:nvSpPr>
        <p:spPr>
          <a:xfrm>
            <a:off x="457200" y="2340864"/>
            <a:ext cx="2560320" cy="237744"/>
          </a:xfrm>
          <a:prstGeom prst="rect">
            <a:avLst/>
          </a:prstGeom>
          <a:noFill/>
          <a:ln/>
        </p:spPr>
        <p:txBody>
          <a:bodyPr wrap="square" rtlCol="0" anchor="ctr"/>
          <a:lstStyle/>
          <a:p>
            <a:pPr indent="0" marL="0">
              <a:buNone/>
            </a:pPr>
            <a:r>
              <a:rPr lang="en-US" sz="950" dirty="0">
                <a:solidFill>
                  <a:srgbClr val="8899AA"/>
                </a:solidFill>
              </a:rPr>
              <a:t>Net Worth</a:t>
            </a:r>
            <a:endParaRPr lang="en-US" sz="950" dirty="0"/>
          </a:p>
        </p:txBody>
      </p:sp>
      <p:sp>
        <p:nvSpPr>
          <p:cNvPr id="16" name="Text 14"/>
          <p:cNvSpPr/>
          <p:nvPr/>
        </p:nvSpPr>
        <p:spPr>
          <a:xfrm>
            <a:off x="3017520" y="2340864"/>
            <a:ext cx="1143000" cy="237744"/>
          </a:xfrm>
          <a:prstGeom prst="rect">
            <a:avLst/>
          </a:prstGeom>
          <a:noFill/>
          <a:ln/>
        </p:spPr>
        <p:txBody>
          <a:bodyPr wrap="square" rtlCol="0" anchor="ctr"/>
          <a:lstStyle/>
          <a:p>
            <a:pPr algn="r" indent="0" marL="0">
              <a:buNone/>
            </a:pPr>
            <a:r>
              <a:rPr lang="en-US" sz="1100" b="1" dirty="0">
                <a:solidFill>
                  <a:srgbClr val="E8C96B"/>
                </a:solidFill>
              </a:rPr>
              <a:t>~₹2,000 Cr</a:t>
            </a:r>
            <a:endParaRPr lang="en-US" sz="1100" dirty="0"/>
          </a:p>
        </p:txBody>
      </p:sp>
      <p:sp>
        <p:nvSpPr>
          <p:cNvPr id="17" name="Text 15"/>
          <p:cNvSpPr/>
          <p:nvPr/>
        </p:nvSpPr>
        <p:spPr>
          <a:xfrm>
            <a:off x="457200" y="2615184"/>
            <a:ext cx="2560320" cy="237744"/>
          </a:xfrm>
          <a:prstGeom prst="rect">
            <a:avLst/>
          </a:prstGeom>
          <a:noFill/>
          <a:ln/>
        </p:spPr>
        <p:txBody>
          <a:bodyPr wrap="square" rtlCol="0" anchor="ctr"/>
          <a:lstStyle/>
          <a:p>
            <a:pPr indent="0" marL="0">
              <a:buNone/>
            </a:pPr>
            <a:r>
              <a:rPr lang="en-US" sz="950" dirty="0">
                <a:solidFill>
                  <a:srgbClr val="8899AA"/>
                </a:solidFill>
              </a:rPr>
              <a:t>CRAR</a:t>
            </a:r>
            <a:endParaRPr lang="en-US" sz="950" dirty="0"/>
          </a:p>
        </p:txBody>
      </p:sp>
      <p:sp>
        <p:nvSpPr>
          <p:cNvPr id="18" name="Text 16"/>
          <p:cNvSpPr/>
          <p:nvPr/>
        </p:nvSpPr>
        <p:spPr>
          <a:xfrm>
            <a:off x="3017520" y="2615184"/>
            <a:ext cx="1143000" cy="237744"/>
          </a:xfrm>
          <a:prstGeom prst="rect">
            <a:avLst/>
          </a:prstGeom>
          <a:noFill/>
          <a:ln/>
        </p:spPr>
        <p:txBody>
          <a:bodyPr wrap="square" rtlCol="0" anchor="ctr"/>
          <a:lstStyle/>
          <a:p>
            <a:pPr algn="r" indent="0" marL="0">
              <a:buNone/>
            </a:pPr>
            <a:r>
              <a:rPr lang="en-US" sz="1100" b="1" dirty="0">
                <a:solidFill>
                  <a:srgbClr val="E8C96B"/>
                </a:solidFill>
              </a:rPr>
              <a:t>20.8%</a:t>
            </a:r>
            <a:endParaRPr lang="en-US" sz="1100" dirty="0"/>
          </a:p>
        </p:txBody>
      </p:sp>
      <p:sp>
        <p:nvSpPr>
          <p:cNvPr id="19" name="Shape 17"/>
          <p:cNvSpPr/>
          <p:nvPr/>
        </p:nvSpPr>
        <p:spPr>
          <a:xfrm>
            <a:off x="4572000" y="822960"/>
            <a:ext cx="4297680" cy="2148840"/>
          </a:xfrm>
          <a:prstGeom prst="rect">
            <a:avLst/>
          </a:prstGeom>
          <a:solidFill>
            <a:srgbClr val="F0F4F8"/>
          </a:solidFill>
          <a:ln w="12700">
            <a:solidFill>
              <a:srgbClr val="F0F4F8"/>
            </a:solidFill>
            <a:prstDash val="solid"/>
          </a:ln>
        </p:spPr>
        <p:txBody>
          <a:bodyPr/>
          <a:p/>
        </p:txBody>
      </p:sp>
      <p:sp>
        <p:nvSpPr>
          <p:cNvPr id="20" name="Text 18"/>
          <p:cNvSpPr/>
          <p:nvPr/>
        </p:nvSpPr>
        <p:spPr>
          <a:xfrm>
            <a:off x="4709160" y="896112"/>
            <a:ext cx="3931920" cy="292608"/>
          </a:xfrm>
          <a:prstGeom prst="rect">
            <a:avLst/>
          </a:prstGeom>
          <a:noFill/>
          <a:ln/>
        </p:spPr>
        <p:txBody>
          <a:bodyPr wrap="square" rtlCol="0" anchor="ctr"/>
          <a:lstStyle/>
          <a:p>
            <a:pPr indent="0" marL="0">
              <a:buNone/>
            </a:pPr>
            <a:r>
              <a:rPr lang="en-US" sz="1200" b="1" dirty="0">
                <a:solidFill>
                  <a:srgbClr val="0A1628"/>
                </a:solidFill>
              </a:rPr>
              <a:t>MSME NBFC Peer Benchmarking</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0" y="1207008"/>
          <a:ext cx="4297680" cy="1691640"/>
        </p:xfrm>
        <a:graphic>
          <a:graphicData uri="http://schemas.openxmlformats.org/drawingml/2006/table">
            <a:tbl>
              <a:tblPr/>
              <a:tblGrid>
                <a:gridCol w="1417320"/>
                <a:gridCol w="640080"/>
                <a:gridCol w="594360"/>
                <a:gridCol w="594360"/>
                <a:gridCol w="1051560"/>
              </a:tblGrid>
              <a:tr h="338328">
                <a:tc>
                  <a:txBody>
                    <a:bodyPr/>
                    <a:lstStyle/>
                    <a:p>
                      <a:pPr algn="l" indent="0" marL="0">
                        <a:buNone/>
                      </a:pPr>
                      <a:r>
                        <a:rPr lang="en-US" sz="950" b="1" dirty="0">
                          <a:solidFill>
                            <a:srgbClr val="FFFFFF"/>
                          </a:solidFill>
                        </a:rPr>
                        <a:t>Company</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AUM Gr.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GNPA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ROA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Positioning</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338328">
                <a:tc>
                  <a:txBody>
                    <a:bodyPr/>
                    <a:lstStyle/>
                    <a:p>
                      <a:pPr algn="l" indent="0" marL="0">
                        <a:buNone/>
                      </a:pPr>
                      <a:r>
                        <a:rPr lang="en-US" sz="950" b="1" dirty="0">
                          <a:solidFill>
                            <a:srgbClr val="0E7C7B"/>
                          </a:solidFill>
                        </a:rPr>
                        <a:t>UGRO Capital</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33%</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2.3%</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2.8%</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DataTech MSME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r>
              <a:tr h="338328">
                <a:tc>
                  <a:txBody>
                    <a:bodyPr/>
                    <a:lstStyle/>
                    <a:p>
                      <a:pPr algn="l" indent="0" marL="0">
                        <a:buNone/>
                      </a:pPr>
                      <a:r>
                        <a:rPr lang="en-US" sz="950" dirty="0">
                          <a:solidFill>
                            <a:srgbClr val="0A1628"/>
                          </a:solidFill>
                        </a:rPr>
                        <a:t>Five Star BF</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26%</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1.4%</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6.0%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Secured SME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338328">
                <a:tc>
                  <a:txBody>
                    <a:bodyPr/>
                    <a:lstStyle/>
                    <a:p>
                      <a:pPr algn="l" indent="0" marL="0">
                        <a:buNone/>
                      </a:pPr>
                      <a:r>
                        <a:rPr lang="en-US" sz="950" dirty="0">
                          <a:solidFill>
                            <a:srgbClr val="0A1628"/>
                          </a:solidFill>
                        </a:rPr>
                        <a:t>Capri Global</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30%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2.1%</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2.5%</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MSME Mixed</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algn="l" indent="0" marL="0">
                        <a:buNone/>
                      </a:pPr>
                      <a:r>
                        <a:rPr lang="en-US" sz="950" dirty="0">
                          <a:solidFill>
                            <a:srgbClr val="0A1628"/>
                          </a:solidFill>
                        </a:rPr>
                        <a:t>U GRO Peers avg</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~25%</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~2.0%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~3.0%</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MSME-focused</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bl>
          </a:graphicData>
        </a:graphic>
      </p:graphicFrame>
      <p:sp>
        <p:nvSpPr>
          <p:cNvPr id="22" name="Shape 19"/>
          <p:cNvSpPr/>
          <p:nvPr/>
        </p:nvSpPr>
        <p:spPr>
          <a:xfrm>
            <a:off x="274320" y="3090672"/>
            <a:ext cx="8595360" cy="1783080"/>
          </a:xfrm>
          <a:prstGeom prst="rect">
            <a:avLst/>
          </a:prstGeom>
          <a:solidFill>
            <a:srgbClr val="0A1628"/>
          </a:solidFill>
          <a:ln w="12700">
            <a:solidFill>
              <a:srgbClr val="0A1628"/>
            </a:solidFill>
            <a:prstDash val="solid"/>
          </a:ln>
        </p:spPr>
        <p:txBody>
          <a:bodyPr/>
          <a:p/>
        </p:txBody>
      </p:sp>
      <p:sp>
        <p:nvSpPr>
          <p:cNvPr id="23" name="Shape 20"/>
          <p:cNvSpPr/>
          <p:nvPr/>
        </p:nvSpPr>
        <p:spPr>
          <a:xfrm>
            <a:off x="274320" y="3090672"/>
            <a:ext cx="8595360" cy="54864"/>
          </a:xfrm>
          <a:prstGeom prst="rect">
            <a:avLst/>
          </a:prstGeom>
          <a:solidFill>
            <a:srgbClr val="C9A84C"/>
          </a:solidFill>
          <a:ln w="12700">
            <a:solidFill>
              <a:srgbClr val="C9A84C"/>
            </a:solidFill>
            <a:prstDash val="solid"/>
          </a:ln>
        </p:spPr>
        <p:txBody>
          <a:bodyPr/>
          <a:p/>
        </p:txBody>
      </p:sp>
      <p:sp>
        <p:nvSpPr>
          <p:cNvPr id="24" name="Text 21"/>
          <p:cNvSpPr/>
          <p:nvPr/>
        </p:nvSpPr>
        <p:spPr>
          <a:xfrm>
            <a:off x="502920" y="3200400"/>
            <a:ext cx="8138160" cy="320040"/>
          </a:xfrm>
          <a:prstGeom prst="rect">
            <a:avLst/>
          </a:prstGeom>
          <a:noFill/>
          <a:ln/>
        </p:spPr>
        <p:txBody>
          <a:bodyPr wrap="square" rtlCol="0" anchor="ctr"/>
          <a:lstStyle/>
          <a:p>
            <a:pPr indent="0" marL="0">
              <a:buNone/>
            </a:pPr>
            <a:r>
              <a:rPr lang="en-US" sz="1300" b="1" dirty="0">
                <a:solidFill>
                  <a:srgbClr val="E8C96B"/>
                </a:solidFill>
                <a:latin typeface="Georgia" pitchFamily="34" charset="0"/>
                <a:ea typeface="Georgia" pitchFamily="34" charset="-122"/>
                <a:cs typeface="Georgia" pitchFamily="34" charset="-120"/>
              </a:rPr>
              <a:t>Investment Summary</a:t>
            </a:r>
            <a:endParaRPr lang="en-US" sz="1300" dirty="0"/>
          </a:p>
        </p:txBody>
      </p:sp>
      <p:sp>
        <p:nvSpPr>
          <p:cNvPr id="25" name="Text 22"/>
          <p:cNvSpPr/>
          <p:nvPr/>
        </p:nvSpPr>
        <p:spPr>
          <a:xfrm>
            <a:off x="502920" y="3584448"/>
            <a:ext cx="8138160" cy="1170432"/>
          </a:xfrm>
          <a:prstGeom prst="rect">
            <a:avLst/>
          </a:prstGeom>
          <a:noFill/>
          <a:ln/>
        </p:spPr>
        <p:txBody>
          <a:bodyPr wrap="square" rtlCol="0" anchor="ctr"/>
          <a:lstStyle/>
          <a:p>
            <a:pPr marL="342900" indent="-342900">
              <a:spcAft>
                <a:spcPts val="600"/>
              </a:spcAft>
              <a:buSzPct val="100000"/>
              <a:buChar char="•"/>
            </a:pPr>
            <a:r>
              <a:rPr lang="en-US" sz="1000" dirty="0">
                <a:solidFill>
                  <a:srgbClr val="D0DCF0"/>
                </a:solidFill>
              </a:rPr>
              <a:t>UGRO FINANCE is a structurally differentiated MSME lender — patented technology, proven execution, and India's largest addressable credit gap as the secular tailwind.</a:t>
            </a:r>
            <a:endParaRPr lang="en-US" sz="1000" dirty="0"/>
          </a:p>
          <a:p>
            <a:pPr marL="342900" indent="-342900">
              <a:spcAft>
                <a:spcPts val="600"/>
              </a:spcAft>
              <a:buSzPct val="100000"/>
              <a:buChar char="•"/>
            </a:pPr>
            <a:r>
              <a:rPr lang="en-US" sz="1000" dirty="0">
                <a:solidFill>
                  <a:srgbClr val="D0DCF0"/>
                </a:solidFill>
              </a:rPr>
              <a:t>FY25 marked an inflection: ₹12,000 Cr AUM, ₹1,265 Cr equity raise, IND A+ ratings, and highest-ever quarterly disbursements — all while maintaining GNPA discipline.</a:t>
            </a:r>
            <a:endParaRPr lang="en-US" sz="1000" dirty="0"/>
          </a:p>
          <a:p>
            <a:pPr marL="342900" indent="-342900">
              <a:spcAft>
                <a:spcPts val="600"/>
              </a:spcAft>
              <a:buSzPct val="100000"/>
              <a:buChar char="•"/>
            </a:pPr>
            <a:r>
              <a:rPr lang="en-US" sz="1000" dirty="0">
                <a:solidFill>
                  <a:srgbClr val="D0DCF0"/>
                </a:solidFill>
              </a:rPr>
              <a:t>At ~1x P/BV on FY25 book of ₹219.6/share, the stock offers a compelling entry into a compounding ROE story as operating leverage, yield mix improvement, and co-lending economics converge in FY26–27.</a:t>
            </a:r>
            <a:endParaRPr lang="en-US" sz="1000" dirty="0"/>
          </a:p>
        </p:txBody>
      </p:sp>
      <p:sp>
        <p:nvSpPr>
          <p:cNvPr id="26" name="Text 23"/>
          <p:cNvSpPr/>
          <p:nvPr/>
        </p:nvSpPr>
        <p:spPr>
          <a:xfrm>
            <a:off x="274320" y="4919472"/>
            <a:ext cx="8595360" cy="182880"/>
          </a:xfrm>
          <a:prstGeom prst="rect">
            <a:avLst/>
          </a:prstGeom>
          <a:noFill/>
          <a:ln/>
        </p:spPr>
        <p:txBody>
          <a:bodyPr wrap="square" rtlCol="0" anchor="ctr"/>
          <a:lstStyle/>
          <a:p>
            <a:pPr indent="0" marL="0">
              <a:buNone/>
            </a:pPr>
            <a:r>
              <a:rPr lang="en-US" sz="750" dirty="0">
                <a:solidFill>
                  <a:srgbClr val="8899AA"/>
                </a:solidFill>
              </a:rPr>
              <a:t>¹ Excluding equity component of CCDs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371600" y="-1371600"/>
            <a:ext cx="6400800" cy="6400800"/>
          </a:xfrm>
          <a:prstGeom prst="ellipse">
            <a:avLst/>
          </a:prstGeom>
          <a:solidFill>
            <a:srgbClr val="1A3567">
              <a:alpha val="30000"/>
            </a:srgbClr>
          </a:solidFill>
          <a:ln w="12700">
            <a:solidFill>
              <a:srgbClr val="1A3567">
                <a:alpha val="30000"/>
              </a:srgbClr>
            </a:solidFill>
            <a:prstDash val="solid"/>
          </a:ln>
        </p:spPr>
        <p:txBody>
          <a:bodyPr/>
          <a:p/>
        </p:txBody>
      </p:sp>
      <p:sp>
        <p:nvSpPr>
          <p:cNvPr id="3" name="Shape 1"/>
          <p:cNvSpPr/>
          <p:nvPr/>
        </p:nvSpPr>
        <p:spPr>
          <a:xfrm>
            <a:off x="0" y="0"/>
            <a:ext cx="164592" cy="5143500"/>
          </a:xfrm>
          <a:prstGeom prst="rect">
            <a:avLst/>
          </a:prstGeom>
          <a:solidFill>
            <a:srgbClr val="C9A84C"/>
          </a:solidFill>
          <a:ln w="12700">
            <a:solidFill>
              <a:srgbClr val="C9A84C"/>
            </a:solidFill>
            <a:prstDash val="solid"/>
          </a:ln>
        </p:spPr>
        <p:txBody>
          <a:bodyPr/>
          <a:p/>
        </p:txBody>
      </p:sp>
      <p:sp>
        <p:nvSpPr>
          <p:cNvPr id="4" name="Text 2"/>
          <p:cNvSpPr/>
          <p:nvPr/>
        </p:nvSpPr>
        <p:spPr>
          <a:xfrm>
            <a:off x="411480" y="822960"/>
            <a:ext cx="7315200" cy="73152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UGRO FINANCE Ltd.</a:t>
            </a:r>
            <a:endParaRPr lang="en-US" sz="4200" dirty="0"/>
          </a:p>
        </p:txBody>
      </p:sp>
      <p:sp>
        <p:nvSpPr>
          <p:cNvPr id="5" name="Text 3"/>
          <p:cNvSpPr/>
          <p:nvPr/>
        </p:nvSpPr>
        <p:spPr>
          <a:xfrm>
            <a:off x="411480" y="1600200"/>
            <a:ext cx="7315200" cy="411480"/>
          </a:xfrm>
          <a:prstGeom prst="rect">
            <a:avLst/>
          </a:prstGeom>
          <a:noFill/>
          <a:ln/>
        </p:spPr>
        <p:txBody>
          <a:bodyPr wrap="square" rtlCol="0" anchor="ctr"/>
          <a:lstStyle/>
          <a:p>
            <a:pPr indent="0" marL="0">
              <a:buNone/>
            </a:pPr>
            <a:r>
              <a:rPr lang="en-US" sz="1800" i="1" dirty="0">
                <a:solidFill>
                  <a:srgbClr val="E8C96B"/>
                </a:solidFill>
              </a:rPr>
              <a:t>LLM Error: 
  No API_KEY or ADC found. Please either:
    - Set the `GOOGLE_API_KEY` environment variable.
    - Manually pass the key with `genai.configure(api_key=my_api_key)`.
    - Or set up Application Default Credentials, see https://ai.google.dev/gemini-api/docs/oauth for more information.</a:t>
            </a:r>
            <a:endParaRPr lang="en-US" sz="1800" dirty="0"/>
          </a:p>
        </p:txBody>
      </p:sp>
      <p:sp>
        <p:nvSpPr>
          <p:cNvPr id="6" name="Shape 4"/>
          <p:cNvSpPr/>
          <p:nvPr/>
        </p:nvSpPr>
        <p:spPr>
          <a:xfrm>
            <a:off x="411480" y="2103120"/>
            <a:ext cx="3200400" cy="45720"/>
          </a:xfrm>
          <a:prstGeom prst="rect">
            <a:avLst/>
          </a:prstGeom>
          <a:solidFill>
            <a:srgbClr val="C9A84C"/>
          </a:solidFill>
          <a:ln w="12700">
            <a:solidFill>
              <a:srgbClr val="C9A84C"/>
            </a:solidFill>
            <a:prstDash val="solid"/>
          </a:ln>
        </p:spPr>
        <p:txBody>
          <a:bodyPr/>
          <a:p/>
        </p:txBody>
      </p:sp>
      <p:sp>
        <p:nvSpPr>
          <p:cNvPr id="7" name="Text 5"/>
          <p:cNvSpPr/>
          <p:nvPr/>
        </p:nvSpPr>
        <p:spPr>
          <a:xfrm>
            <a:off x="411480" y="2286000"/>
            <a:ext cx="5486400" cy="292608"/>
          </a:xfrm>
          <a:prstGeom prst="rect">
            <a:avLst/>
          </a:prstGeom>
          <a:noFill/>
          <a:ln/>
        </p:spPr>
        <p:txBody>
          <a:bodyPr wrap="square" rtlCol="0" anchor="ctr"/>
          <a:lstStyle/>
          <a:p>
            <a:pPr indent="0" marL="0">
              <a:buNone/>
            </a:pPr>
            <a:r>
              <a:rPr lang="en-US" sz="1100" dirty="0">
                <a:solidFill>
                  <a:srgbClr val="8899AA"/>
                </a:solidFill>
              </a:rPr>
              <a:t>For further information, please contact:</a:t>
            </a:r>
            <a:endParaRPr lang="en-US" sz="1100" dirty="0"/>
          </a:p>
        </p:txBody>
      </p:sp>
      <p:sp>
        <p:nvSpPr>
          <p:cNvPr id="8" name="Text 6"/>
          <p:cNvSpPr/>
          <p:nvPr/>
        </p:nvSpPr>
        <p:spPr>
          <a:xfrm>
            <a:off x="411480" y="2606040"/>
            <a:ext cx="5486400" cy="320040"/>
          </a:xfrm>
          <a:prstGeom prst="rect">
            <a:avLst/>
          </a:prstGeom>
          <a:noFill/>
          <a:ln/>
        </p:spPr>
        <p:txBody>
          <a:bodyPr wrap="square" rtlCol="0" anchor="ctr"/>
          <a:lstStyle/>
          <a:p>
            <a:pPr indent="0" marL="0">
              <a:buNone/>
            </a:pPr>
            <a:r>
              <a:rPr lang="en-US" sz="1400" b="1" dirty="0">
                <a:solidFill>
                  <a:srgbClr val="FFFFFF"/>
                </a:solidFill>
              </a:rPr>
              <a:t>Investment Banking Division</a:t>
            </a:r>
            <a:endParaRPr lang="en-US" sz="1400" dirty="0"/>
          </a:p>
        </p:txBody>
      </p:sp>
      <p:sp>
        <p:nvSpPr>
          <p:cNvPr id="9" name="Shape 7"/>
          <p:cNvSpPr/>
          <p:nvPr/>
        </p:nvSpPr>
        <p:spPr>
          <a:xfrm>
            <a:off x="411480" y="3200400"/>
            <a:ext cx="8321040" cy="1600200"/>
          </a:xfrm>
          <a:prstGeom prst="rect">
            <a:avLst/>
          </a:prstGeom>
          <a:solidFill>
            <a:srgbClr val="1A3567">
              <a:alpha val="50000"/>
            </a:srgbClr>
          </a:solidFill>
          <a:ln w="12700">
            <a:solidFill>
              <a:srgbClr val="1A3567">
                <a:alpha val="50000"/>
              </a:srgbClr>
            </a:solidFill>
            <a:prstDash val="solid"/>
          </a:ln>
        </p:spPr>
        <p:txBody>
          <a:bodyPr/>
          <a:p/>
        </p:txBody>
      </p:sp>
      <p:sp>
        <p:nvSpPr>
          <p:cNvPr id="10" name="Text 8"/>
          <p:cNvSpPr/>
          <p:nvPr/>
        </p:nvSpPr>
        <p:spPr>
          <a:xfrm>
            <a:off x="566928" y="3291840"/>
            <a:ext cx="7955280" cy="274320"/>
          </a:xfrm>
          <a:prstGeom prst="rect">
            <a:avLst/>
          </a:prstGeom>
          <a:noFill/>
          <a:ln/>
        </p:spPr>
        <p:txBody>
          <a:bodyPr wrap="square" rtlCol="0" anchor="ctr"/>
          <a:lstStyle/>
          <a:p>
            <a:pPr indent="0" marL="0">
              <a:buNone/>
            </a:pPr>
            <a:r>
              <a:rPr lang="en-US" sz="900" b="1" dirty="0">
                <a:solidFill>
                  <a:srgbClr val="C9A84C"/>
                </a:solidFill>
              </a:rPr>
              <a:t>IMPORTANT DISCLAIMER</a:t>
            </a:r>
            <a:endParaRPr lang="en-US" sz="900" dirty="0"/>
          </a:p>
        </p:txBody>
      </p:sp>
      <p:sp>
        <p:nvSpPr>
          <p:cNvPr id="11" name="Text 9"/>
          <p:cNvSpPr/>
          <p:nvPr/>
        </p:nvSpPr>
        <p:spPr>
          <a:xfrm>
            <a:off x="566928" y="3611880"/>
            <a:ext cx="7955280" cy="1097280"/>
          </a:xfrm>
          <a:prstGeom prst="rect">
            <a:avLst/>
          </a:prstGeom>
          <a:noFill/>
          <a:ln/>
        </p:spPr>
        <p:txBody>
          <a:bodyPr wrap="square" rtlCol="0" anchor="ctr"/>
          <a:lstStyle/>
          <a:p>
            <a:pPr indent="0" marL="0">
              <a:buNone/>
            </a:pPr>
            <a:r>
              <a:rPr lang="en-US" sz="800" dirty="0">
                <a:solidFill>
                  <a:srgbClr val="8899AA"/>
                </a:solidFill>
              </a:rPr>
              <a:t>This presentation has been prepared by the Investment Banking Division for discussion purposes only and does not constitute an offer to sell or solicitation to buy any securities. The information contained herein is derived from UGRO FINANCE's Annual Report FY2024-25 and publicly available sources. Past performance is not indicative of future results. Potential investors should conduct their own due diligence and seek independent professional advice. This document is strictly confidential and intended solely for the designated recipient.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UGRO Capital – Investment Banking Pitch Deck</dc:title>
  <dc:subject>PptxGenJS Presentation</dc:subject>
  <dc:creator>PptxGenJS</dc:creator>
  <cp:lastModifiedBy>PptxGenJS</cp:lastModifiedBy>
  <cp:revision>1</cp:revision>
  <dcterms:created xsi:type="dcterms:W3CDTF">2026-05-12T09:03:07Z</dcterms:created>
  <dcterms:modified xsi:type="dcterms:W3CDTF">2026-05-12T09:03:07Z</dcterms:modified>
</cp:coreProperties>
</file>